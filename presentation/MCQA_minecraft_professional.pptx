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4570bdbcca44a0" /><Relationship Type="http://schemas.openxmlformats.org/officeDocument/2006/relationships/extended-properties" Target="/docProps/app.xml" Id="R416a8110aa7d403a" /><Relationship Type="http://schemas.openxmlformats.org/officeDocument/2006/relationships/officeDocument" Target="/ppt/presentation.xml" Id="Ra5a06bf093ce49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827c93314d4563"/>
  </p:sldMasterIdLst>
  <p:notesMasterIdLst>
    <p:notesMasterId xmlns:r="http://schemas.openxmlformats.org/officeDocument/2006/relationships" r:id="Rbd0cfd5686504fe0"/>
  </p:notesMasterIdLst>
  <p:sldIdLst>
    <p:sldId xmlns:r="http://schemas.openxmlformats.org/officeDocument/2006/relationships" id="256" r:id="R35d34948c2be4bc0"/>
    <p:sldId xmlns:r="http://schemas.openxmlformats.org/officeDocument/2006/relationships" id="257" r:id="Rf11a502555e844e6"/>
    <p:sldId xmlns:r="http://schemas.openxmlformats.org/officeDocument/2006/relationships" id="258" r:id="R387f53e2a3b24f02"/>
    <p:sldId xmlns:r="http://schemas.openxmlformats.org/officeDocument/2006/relationships" id="259" r:id="Re2c65c073d674a6d"/>
    <p:sldId xmlns:r="http://schemas.openxmlformats.org/officeDocument/2006/relationships" id="260" r:id="R4ce5831421134e2d"/>
    <p:sldId xmlns:r="http://schemas.openxmlformats.org/officeDocument/2006/relationships" id="261" r:id="Ra6cba64099594435"/>
    <p:sldId xmlns:r="http://schemas.openxmlformats.org/officeDocument/2006/relationships" id="262" r:id="R9045693d03524508"/>
    <p:sldId xmlns:r="http://schemas.openxmlformats.org/officeDocument/2006/relationships" id="263" r:id="R0758a7e0d9c949ba"/>
    <p:sldId xmlns:r="http://schemas.openxmlformats.org/officeDocument/2006/relationships" id="264" r:id="Re332493697cc451f"/>
    <p:sldId xmlns:r="http://schemas.openxmlformats.org/officeDocument/2006/relationships" id="265" r:id="R3a13fa646d5d493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6fe4927de441c4" /><Relationship Type="http://schemas.openxmlformats.org/officeDocument/2006/relationships/slideMaster" Target="/ppt/slideMasters/slideMaster1.xml" Id="R04827c93314d4563" /><Relationship Type="http://schemas.openxmlformats.org/officeDocument/2006/relationships/notesMaster" Target="/ppt/notesMasters/notesMaster1.xml" Id="Rbd0cfd5686504fe0" /><Relationship Type="http://schemas.openxmlformats.org/officeDocument/2006/relationships/presProps" Target="/ppt/presProps.xml" Id="Re7cd8266aa264639" /><Relationship Type="http://schemas.openxmlformats.org/officeDocument/2006/relationships/viewProps" Target="/ppt/viewProps.xml" Id="R7f86cfcadb3c492b" /><Relationship Type="http://schemas.openxmlformats.org/officeDocument/2006/relationships/tableStyles" Target="/ppt/tableStyles.xml" Id="Ra0438bc3d6ff459c" /><Relationship Type="http://schemas.openxmlformats.org/officeDocument/2006/relationships/slide" Target="/ppt/slides/slide1.xml" Id="R35d34948c2be4bc0" /><Relationship Type="http://schemas.openxmlformats.org/officeDocument/2006/relationships/slide" Target="/ppt/slides/slide2.xml" Id="Rf11a502555e844e6" /><Relationship Type="http://schemas.openxmlformats.org/officeDocument/2006/relationships/slide" Target="/ppt/slides/slide3.xml" Id="R387f53e2a3b24f02" /><Relationship Type="http://schemas.openxmlformats.org/officeDocument/2006/relationships/slide" Target="/ppt/slides/slide4.xml" Id="Re2c65c073d674a6d" /><Relationship Type="http://schemas.openxmlformats.org/officeDocument/2006/relationships/slide" Target="/ppt/slides/slide5.xml" Id="R4ce5831421134e2d" /><Relationship Type="http://schemas.openxmlformats.org/officeDocument/2006/relationships/slide" Target="/ppt/slides/slide6.xml" Id="Ra6cba64099594435" /><Relationship Type="http://schemas.openxmlformats.org/officeDocument/2006/relationships/slide" Target="/ppt/slides/slide7.xml" Id="R9045693d03524508" /><Relationship Type="http://schemas.openxmlformats.org/officeDocument/2006/relationships/slide" Target="/ppt/slides/slide8.xml" Id="R0758a7e0d9c949ba" /><Relationship Type="http://schemas.openxmlformats.org/officeDocument/2006/relationships/slide" Target="/ppt/slides/slide9.xml" Id="Re332493697cc451f" /><Relationship Type="http://schemas.openxmlformats.org/officeDocument/2006/relationships/slide" Target="/ppt/slides/slide10.xml" Id="R3a13fa646d5d49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341c4396f745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677cb11031448b" /><Relationship Type="http://schemas.openxmlformats.org/officeDocument/2006/relationships/notesMaster" Target="/ppt/notesMasters/notesMaster1.xml" Id="R236c9aa4b49345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2db321ce534546" /><Relationship Type="http://schemas.openxmlformats.org/officeDocument/2006/relationships/notesMaster" Target="/ppt/notesMasters/notesMaster1.xml" Id="R6e49590f37bd41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6c7e82d52f479c" /><Relationship Type="http://schemas.openxmlformats.org/officeDocument/2006/relationships/notesMaster" Target="/ppt/notesMasters/notesMaster1.xml" Id="Rba6641afbe7a4f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9f45c79c764967" /><Relationship Type="http://schemas.openxmlformats.org/officeDocument/2006/relationships/notesMaster" Target="/ppt/notesMasters/notesMaster1.xml" Id="Rb637e8262fa54f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4224a44cd04606" /><Relationship Type="http://schemas.openxmlformats.org/officeDocument/2006/relationships/notesMaster" Target="/ppt/notesMasters/notesMaster1.xml" Id="Ra83c6f413eb84e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d549cd53f348cc" /><Relationship Type="http://schemas.openxmlformats.org/officeDocument/2006/relationships/notesMaster" Target="/ppt/notesMasters/notesMaster1.xml" Id="Re58833b0396441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e68c646adb4d00" /><Relationship Type="http://schemas.openxmlformats.org/officeDocument/2006/relationships/notesMaster" Target="/ppt/notesMasters/notesMaster1.xml" Id="R3f55dbe2bf3844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98af30056e4ad9" /><Relationship Type="http://schemas.openxmlformats.org/officeDocument/2006/relationships/notesMaster" Target="/ppt/notesMasters/notesMaster1.xml" Id="R67cf6c9fdfca45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7b4f47ccfd4553" /><Relationship Type="http://schemas.openxmlformats.org/officeDocument/2006/relationships/notesMaster" Target="/ppt/notesMasters/notesMaster1.xml" Id="Re74e37e55c3b4d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943d6b050c4fac" /><Relationship Type="http://schemas.openxmlformats.org/officeDocument/2006/relationships/notesMaster" Target="/ppt/notesMasters/notesMaster1.xml" Id="Ra6e0a37e45a74e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โปรเจกต์ของเราชื่อ MCQA เป็นผู้ช่วยตอบคำถาม Minecraft Java ที่ทำงานบนเครื่องทั้งหมดครับ คำถามเกี่ยวกับเกมจะค้นเอกสารและแสดงแหล่งอ้างอิง ส่วนจำนวนวัตถุดิบจะคำนวณจากสูตรทางการ เป้าหมายคือให้ผู้เล่นตรวจสอบคำตอบได้ และลดการเดาตัวเลขของโมเดลครับ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docs/sources.md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AI_AUDIT.md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0:25–1:00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ปัญหามีทั้งคำตอบในวิกิที่ปนหลายเวอร์ชัน และการคำนวณจำนวนวัตถุดิบครับ เช่น ถ้าต้องการ Hopper สามชิ้น ผู้เล่นต้องรู้จำนวน Iron Ingots ที่ต้องใช้ เราจึงแยกวิธีตอบ คำถามข้อเท็จจริงใช้หลักฐาน ส่วนตัวเลขใช้เครื่องมือคำนวณ และตั้งขอบเขตเป็น Java Edition ระบบนี้ใช้งานโดยไม่เสียค่า API หลังจากเตรียมโมเดลไว้ในเครื่องครับ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docs/sources.md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docs/failure_analysis.md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1:00–2:00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แถวบนคือการเตรียมข้อมูลครับ เราเก็บวิกิพร้อม revision แบ่งข้อความตาม section แล้วสร้าง dense index บน CPU พร้อม BM25 เวลารับคำถาม ระบบตรวจขอบเขตก่อน ถ้าเป็นสูตรและจำนวนที่อ่านได้ชัดเจน จะส่งไปคำนวณตรงทันที คำถามอื่นจะค้นเอกสาร รวมอันดับด้วย RRF และเรียงใหม่ก่อนส่งให้ Qwen ตอบพร้อม citation ถ้าเป็นคำถามซับซ้อน โมเดลยังสามารถเรียกเครื่องมือสูตรได้ผ่าน tool loop ครับ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mcqa.py: chunks, Retriever, crafting_intent, answer, _agent_answer</a:t>
            </a:r>
          </a:p>
          <a:p xmlns:a="http://schemas.openxmlformats.org/drawingml/2006/main">
            <a:r>
              <a:t>docs/sources.md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2:00–2:45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ข้อมูลค้นคืนเป็นบทความจริงจาก Minecraft Wiki ไม่ใช่ชุดถามตอบสังเคราะห์ครับ มี 312 หน้าที่ไม่ซ้ำกันและประมาณแปดแสนหนึ่งหมื่นเจ็ดพันคำ เราเก็บ revision ของแต่ละหน้าไว้ เราเปรียบเทียบ chunk ขนาด 128, 256 และ 512 โทเคน ผล source-page hit เดิมใกล้กัน จึงใช้ 256 เพื่อรักษาบริบทโดยไม่เพิ่มต้นทุนมาก แบ่งตาม section และ paragraph ก่อน ถ้ายาวเกินจึงแบ่งย่อย ไม่มี overlap ข้อจำกัดคือ corpus ยังมีข้อมูลเก่า และ 312 หน้าไม่ได้ครอบคลุมทุกเรื่องในเกมครับ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docs/sources.md</a:t>
            </a:r>
          </a:p>
          <a:p xmlns:a="http://schemas.openxmlformats.org/drawingml/2006/main">
            <a:r>
              <a:t>docs/corpus_inventory.csv</a:t>
            </a:r>
          </a:p>
          <a:p xmlns:a="http://schemas.openxmlformats.org/drawingml/2006/main">
            <a:r>
              <a:t>results/RESULTS.md</a:t>
            </a:r>
          </a:p>
          <a:p xmlns:a="http://schemas.openxmlformats.org/drawingml/2006/main">
            <a:r>
              <a:t>mcqa.py: chunks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2:45–4:00; then switch to the live demo until 7:00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เราใช้ BGE-small ทำ embedding บน CPU ครับ BM25 ช่วยเรื่องชื่อ item ที่ตรงคำ ส่วน dense retrieval ช่วยจับความหมาย RRF รวมอันดับโดยไม่ต้องทำให้คะแนนสองระบบอยู่ในสเกลเดียวกัน จากนั้น cross-encoder จะอ่านคำถามกับ passage คู่กันแล้วเลือกห้าอันดับแรก ส่วน Qwen 4B ทำหน้าที่ตอบและวางแผนเรียกเครื่องมือ โมเดลทั้งหมดมีอยู่ในเครื่อง แต่เราไม่สรุปว่าการเพิ่ม reranker จะทำให้ดีกว่าเสมอ ต้องดูผล ablation ต่อไปครับ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docs/sources.md</a:t>
            </a:r>
          </a:p>
          <a:p xmlns:a="http://schemas.openxmlformats.org/drawingml/2006/main">
            <a:r>
              <a:t>mcqa.py: embedder, reranker, Retriever, chat</a:t>
            </a:r>
          </a:p>
          <a:p xmlns:a="http://schemas.openxmlformats.org/drawingml/2006/main">
            <a:r>
              <a:t>results/verified/test/summary.json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7:00–7:35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เริ่มจากผลทดลองชุดแรก ซึ่งมีคำถามข้อเท็จจริง 34 ข้อครับ ถ้าให้โมเดลตอบโดยไม่ค้นเอกสาร จะตอบถูก 9 ข้อ เมื่อใช้ dense retrieval เพิ่มเป็น 27 ข้อ ส่วน hybrid ที่มี reranker ได้ 26 ข้อ ผลนี้สนับสนุนว่าการค้นเอกสารช่วยได้ แต่ยังไม่เห็นข้อได้เปรียบชัดเจนของ reranker คะแนนเหล่านี้มาจากการทดลองรุ่นเดิมที่เก็บไว้ และใช้โมเดลเป็นผู้ประเมินครับ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results/verified/test/summary.json</a:t>
            </a:r>
          </a:p>
          <a:p xmlns:a="http://schemas.openxmlformats.org/drawingml/2006/main">
            <a:r>
              <a:t>results/verified/test/RESULTS.md</a:t>
            </a:r>
          </a:p>
          <a:p xmlns:a="http://schemas.openxmlformats.org/drawingml/2006/main">
            <a:r>
              <a:t>results/verified/test/config.json</a:t>
            </a:r>
          </a:p>
          <a:p xmlns:a="http://schemas.openxmlformats.org/drawingml/2006/main">
            <a:r>
              <a:t>data/java_benchmark.jsonl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7:35–8:10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สำหรับการคำนวณวัตถุดิบ เราเปรียบเทียบคำถาม 40 ข้อ โดยเปิดและปิดเครื่องมือ เมื่อไม่มีเครื่องมือ ตอบจำนวนถูกเพียง 1 ข้อ แต่เมื่อใช้เครื่องมือ ถูก 37 ข้อ เครื่องมืออ่านสูตรทางการแล้วคำนวณจำนวนรอบการคราฟต์ให้ ส่วนสามข้อที่ผิดไม่ได้เรียกเครื่องมือเลย จุดที่ยังติดจึงเป็นการส่งคำถามไปใช้เครื่องมือ ผลนี้วัดจำนวนวัตถุดิบโดยตรง ยังไม่ครอบคลุมการวางแผนจากของทั้งหมดในคลังครับ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results/verified/tool_final/summary.json</a:t>
            </a:r>
          </a:p>
          <a:p xmlns:a="http://schemas.openxmlformats.org/drawingml/2006/main">
            <a:r>
              <a:t>results/verified/tool_final/RESULTS.md</a:t>
            </a:r>
          </a:p>
          <a:p xmlns:a="http://schemas.openxmlformats.org/drawingml/2006/main">
            <a:r>
              <a:t>results/verified/tool_final/answers.jsonl</a:t>
            </a:r>
          </a:p>
          <a:p xmlns:a="http://schemas.openxmlformats.org/drawingml/2006/main">
            <a:r>
              <a:t>docs/sources.md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ผลประเมินด้วยสองตัวชี้วัด บนชุดทดสอบเดียวกับสไลด์ 6 คือข้อเท็จจริง 34 ข้อครับ ถ้าไม่ใช้การค้นคืน ตอบถูกแค่ 9 ข้อ และได้ </a:t>
            </a:r>
            <a:r>
              <a:t>BERTScore </a:t>
            </a:r>
            <a:r>
              <a:t>จุดสองเก้าสี่ </a:t>
            </a:r>
            <a:r>
              <a:t>Dense </a:t>
            </a:r>
            <a:r>
              <a:t>ตอบถูก 27 ข้อ ได้ </a:t>
            </a:r>
            <a:r>
              <a:t>BERTScore </a:t>
            </a:r>
            <a:r>
              <a:t>จุดสี่เก้าสาม ส่วน </a:t>
            </a:r>
            <a:r>
              <a:t>hybrid </a:t>
            </a:r>
            <a:r>
              <a:t>กับ </a:t>
            </a:r>
            <a:r>
              <a:t>reranker </a:t>
            </a:r>
            <a:r>
              <a:t>ตอบถูก 26 ข้อ ได้ </a:t>
            </a:r>
            <a:r>
              <a:t>BERTScore </a:t>
            </a:r>
            <a:r>
              <a:t>จุดสี่ห้าหนึ่ง ทั้งสองตัวชี้วัดบอกตรงกันว่าการค้นคืนช่วยให้คำตอบดีขึ้นมาก แต่ </a:t>
            </a:r>
            <a:r>
              <a:t>reranker </a:t>
            </a:r>
            <a:r>
              <a:t>ไม่ได้ดีกว่า </a:t>
            </a:r>
            <a:r>
              <a:t>dense </a:t>
            </a:r>
            <a:r>
              <a:t>การตัดสินความถูกต้องเทียบข้อเท็จจริงในคำตอบกับคำตอบอ้างอิง ส่วน </a:t>
            </a:r>
            <a:r>
              <a:t>BERTScore </a:t>
            </a:r>
            <a:r>
              <a:t>วัดความคล้ายของข้อความ ผู้ตัดสินเป็นโมเดลเดียวกับที่ตอบ และยังไม่มีการตรวจโดยคนครับ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8:45–9:20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ระบบยังมีข้อจำกัดสามเรื่องครับ หนึ่ง การกรองข้อความของเวอร์ชันอื่นอาจตัดข้อมูล Java ที่ใช้ได้ออกไปด้วย สอง คำถามหลายส่วนอาจได้ตัวเลขจากเครื่องมือถูก แต่คำอธิบายที่โมเดลเติมยังไม่มีหลักฐานรองรับ และสาม เราใช้โมเดลเดียวกันตอบและประเมิน จึงมีโอกาสประเมินผิดหรือเข้าข้างคำตอบของตัวเอง เราเก็บคำตอบดิบและแหล่งอ้างอิงไว้ เพื่อให้ย้อนตรวจข้อผิดพลาดเหล่านี้ได้ครับ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results/improvement_review/analysis_notes.md</a:t>
            </a:r>
          </a:p>
          <a:p xmlns:a="http://schemas.openxmlformats.org/drawingml/2006/main">
            <a:r>
              <a:t>docs/failure_analysis.md</a:t>
            </a:r>
          </a:p>
          <a:p xmlns:a="http://schemas.openxmlformats.org/drawingml/2006/main">
            <a:r>
              <a:t>results/improvement_review/after_answers.jsonl</a:t>
            </a:r>
          </a:p>
          <a:p xmlns:a="http://schemas.openxmlformats.org/drawingml/2006/main">
            <a:r>
              <a:t>results/improvement_review/human_check.csv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9:20–10:00; then individual Q&amp;A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ใน AI Audit เราระบุอย่างตรงไปตรงมาว่า AI เป็นผู้เลือกสามแนวทางนี้ ได้แก่ chunk ขนาด 256 โทเคน โมเดล BGE ที่ทำงานบน CPU และการคำนวณสูตรทางการแบบตรง โดยเก็บ tool loop สำหรับคำถามที่ซับซ้อน ตัวอย่างข้อผิดพลาดที่พบคือ ตัวให้คะแนนเดิมหยิบเลขตัวแรกจากคำตอบ แม้คำตอบนั้นจะปฏิเสธและแค่ทวนจำนวนในคำถาม จึงถูกแก้ให้ตรวจจำนวนวัตถุดิบที่ถาม และไม่ให้คะแนนคำปฏิเสธครับ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AI_AUDIT.md: Decision Journal and Error Catch Log</a:t>
            </a:r>
          </a:p>
          <a:p xmlns:a="http://schemas.openxmlformats.org/drawingml/2006/main">
            <a:r>
              <a:t>docs/codex_prompt_history.md</a:t>
            </a:r>
          </a:p>
          <a:p xmlns:a="http://schemas.openxmlformats.org/drawingml/2006/main">
            <a:r>
              <a:t>codextodo.md</a:t>
            </a:r>
          </a:p>
          <a:p xmlns:a="http://schemas.openxmlformats.org/drawingml/2006/main">
            <a:r>
              <a:t>docs/codex_review.md</a:t>
            </a:r>
          </a:p>
          <a:p xmlns:a="http://schemas.openxmlformats.org/drawingml/2006/main">
            <a:r>
              <a:t>test_eval.py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2740ad2b942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1ce76b931340d2" /><Relationship Type="http://schemas.openxmlformats.org/officeDocument/2006/relationships/slideLayout" Target="/ppt/slideLayouts/slideLayout1.xml" Id="R3a749d15409a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749d15409a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662c4929d472b" /><Relationship Type="http://schemas.openxmlformats.org/officeDocument/2006/relationships/image" Target="/ppt/media/image.png" Id="Rad4710fe1d7d4bf4" /><Relationship Type="http://schemas.openxmlformats.org/officeDocument/2006/relationships/notesSlide" Target="/ppt/notesSlides/notesSlide1.xml" Id="Rea4a504c938149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8244b17fb4d37" /><Relationship Type="http://schemas.openxmlformats.org/officeDocument/2006/relationships/image" Target="/ppt/media/image2.png" Id="R942164efb5f549cf" /><Relationship Type="http://schemas.openxmlformats.org/officeDocument/2006/relationships/notesSlide" Target="/ppt/notesSlides/notesSlide2.xml" Id="Rf3149e349f4c41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b28f4174b4875" /><Relationship Type="http://schemas.openxmlformats.org/officeDocument/2006/relationships/image" Target="/ppt/media/image3.png" Id="Re61ff0acc03142d0" /><Relationship Type="http://schemas.openxmlformats.org/officeDocument/2006/relationships/notesSlide" Target="/ppt/notesSlides/notesSlide3.xml" Id="R930683bfce5d4e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686874fb14868" /><Relationship Type="http://schemas.openxmlformats.org/officeDocument/2006/relationships/image" Target="/ppt/media/image4.png" Id="R3bd5f7f41d2e4388" /><Relationship Type="http://schemas.openxmlformats.org/officeDocument/2006/relationships/notesSlide" Target="/ppt/notesSlides/notesSlide4.xml" Id="R4b6e573bbed14f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14b38477c4cac" /><Relationship Type="http://schemas.openxmlformats.org/officeDocument/2006/relationships/image" Target="/ppt/media/image5.png" Id="Rf22a552f20e74091" /><Relationship Type="http://schemas.openxmlformats.org/officeDocument/2006/relationships/notesSlide" Target="/ppt/notesSlides/notesSlide5.xml" Id="R00daa668e2da42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4f59d7b1741f4" /><Relationship Type="http://schemas.openxmlformats.org/officeDocument/2006/relationships/image" Target="/ppt/media/image6.png" Id="R262e476d00c54e76" /><Relationship Type="http://schemas.openxmlformats.org/officeDocument/2006/relationships/notesSlide" Target="/ppt/notesSlides/notesSlide6.xml" Id="Rcf1597a3527b4e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be32f62b54921" /><Relationship Type="http://schemas.openxmlformats.org/officeDocument/2006/relationships/image" Target="/ppt/media/image7.png" Id="R23f6312f2b4c4cdb" /><Relationship Type="http://schemas.openxmlformats.org/officeDocument/2006/relationships/notesSlide" Target="/ppt/notesSlides/notesSlide7.xml" Id="Rd88458a74a6f47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e6b2f30804b27" /><Relationship Type="http://schemas.openxmlformats.org/officeDocument/2006/relationships/image" Target="/ppt/media/image8.png" Id="Ra4aee249ee2449b5" /><Relationship Type="http://schemas.openxmlformats.org/officeDocument/2006/relationships/notesSlide" Target="/ppt/notesSlides/notesSlide8.xml" Id="R051ccf7a312445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3c3e1426a40b1" /><Relationship Type="http://schemas.openxmlformats.org/officeDocument/2006/relationships/image" Target="/ppt/media/image9.png" Id="Rfebebfe4cc2245d5" /><Relationship Type="http://schemas.openxmlformats.org/officeDocument/2006/relationships/notesSlide" Target="/ppt/notesSlides/notesSlide9.xml" Id="Rc9fcbe07cd8f4f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a831e0aea41bd" /><Relationship Type="http://schemas.openxmlformats.org/officeDocument/2006/relationships/image" Target="/ppt/media/image10.png" Id="R03765fdf32904d6f" /><Relationship Type="http://schemas.openxmlformats.org/officeDocument/2006/relationships/notesSlide" Target="/ppt/notesSlides/notesSlide10.xml" Id="R0dbcb2d6561540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4C374-380E-4D12-810C-DF8C52A9FD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710fe1d7d4bf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AB77E83-5F70-4FF4-91DF-5289FCCE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9CFA94-FA21-4BAC-8D8F-7A9AE5B1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99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99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99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99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99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99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99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99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99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99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99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9900" b="1">
                <a:solidFill>
                  <a:srgbClr val="F4F1E8"/>
                </a:solidFill>
                <a:latin typeface="Tahoma"/>
                <a:ea typeface="Tahoma"/>
                <a:cs typeface="Tahoma"/>
              </a:rPr>
              <a:t>MCQA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09B892-A56F-44B5-ACB9-EC1D7AE2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19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3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33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33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33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33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33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33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33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33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33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33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33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Minecraft answers you can check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890BC1D-D3A7-4DF5-91A9-254519CD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Cited Wiki evidence and official recipe calculations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4DCBE1-4B91-4CF8-8B9F-7A0C4212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18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18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18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18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18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18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18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18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18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Fully local · Minecraft Java 26.3 target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4650A0C-D94E-4EF2-8B92-6763F06F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165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165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165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165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165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165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165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165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165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Natdanai Phurintanachot (67070230)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Nattapong Suphawirojlert (67070051)</a:t>
            </a:r>
          </a:p>
        </p:txBody>
      </p:sp>
    </p:spTree>
    <p:extLst>
      <p:ext uri="{BB962C8B-B14F-4D97-AF65-F5344CB8AC3E}">
        <p14:creationId xmlns:p14="http://schemas.microsoft.com/office/powerpoint/2010/main" val="1408117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31581-0F46-46A6-8934-C654259D93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164efb5f549c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B67D864-2AFB-4087-8ADC-9A72EF89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4F1E8"/>
                </a:solidFill>
                <a:latin typeface="Tahoma"/>
                <a:ea typeface="Tahoma"/>
                <a:cs typeface="Tahoma"/>
              </a:rPr>
              <a:t>Players need facts and exact amounts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37B5C6-D1C6-4636-8F38-D1CF1E9E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E6040D-3460-4892-950F-9EDF16DE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90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B0CE87"/>
                </a:solidFill>
                <a:latin typeface="Tahoma"/>
                <a:ea typeface="Tahoma"/>
                <a:cs typeface="Tahoma"/>
              </a:rPr>
              <a:t>Gameplay questions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ACDE35-640A-47D0-AEF3-55C1B08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Wiki pages mix editions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and historical rules.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7792C42-A584-43E2-91D5-2AFEFD58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Retrieve passages and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show revision links.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C1C6D2C-9CFE-4AE3-AA4F-A4D3B596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B0CE87"/>
                </a:solidFill>
                <a:latin typeface="Tahoma"/>
                <a:ea typeface="Tahoma"/>
                <a:cs typeface="Tahoma"/>
              </a:rPr>
              <a:t>Crafting questions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AD10B65-0280-4380-B912-DDAE3197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4792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27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"How many iron ingots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for 3 hoppers?"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344F1D7-7135-424B-9FD0-E68C765B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22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Read an official recipe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and calculate the batches.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4C6E4EA-D4BE-45FE-AA90-2CB48C36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Scope: direct crafting and supported Java evidence. Other editions need a clear boundary.</a:t>
            </a:r>
          </a:p>
        </p:txBody>
      </p:sp>
    </p:spTree>
    <p:extLst>
      <p:ext uri="{BB962C8B-B14F-4D97-AF65-F5344CB8AC3E}">
        <p14:creationId xmlns:p14="http://schemas.microsoft.com/office/powerpoint/2010/main" val="1388135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7F4BEC-0FBD-47F9-BE79-E1ED2FE93D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ff0acc03142d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cxnSp>
        <p:nvCxnSpPr>
          <p:cNvPr id="26" name="Connector: Elbow 25">
            <a:extLst xmlns:a="http://schemas.openxmlformats.org/drawingml/2006/main">
              <a:ext uri="{FF2B5EF4-FFF2-40B4-BE49-F238E27FC236}">
                <a16:creationId xmlns:a16="http://schemas.microsoft.com/office/drawing/2014/main" id="{C34FEFE2-636F-450D-AF0C-68476AC1010B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9405938" y="4181475"/>
            <a:ext cx="847725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0CE87"/>
            </a:solidFill>
            <a:prstDash val="dash"/>
            <a:headEnd type="triangle" w="med" len="med"/>
            <a:tailEnd type="triangle" w="med" len="med"/>
          </a:ln>
        </p:spPr>
      </p:cxnSp>
      <p:cxnSp>
        <p:nvCxnSpPr>
          <p:cNvPr id="27" name="Connector: Elbow 26">
            <a:extLst xmlns:a="http://schemas.openxmlformats.org/drawingml/2006/main">
              <a:ext uri="{FF2B5EF4-FFF2-40B4-BE49-F238E27FC236}">
                <a16:creationId xmlns:a16="http://schemas.microsoft.com/office/drawing/2014/main" id="{3E414FC9-D9D5-4204-B8E3-6BFFD77197BD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724025" y="4181475"/>
            <a:ext cx="3252788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0CE87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Straight Arrow Connector 27">
            <a:extLst xmlns:a="http://schemas.openxmlformats.org/drawingml/2006/main">
              <a:ext uri="{FF2B5EF4-FFF2-40B4-BE49-F238E27FC236}">
                <a16:creationId xmlns:a16="http://schemas.microsoft.com/office/drawing/2014/main" id="{4594DB36-C7A6-489E-BF77-49E149D6B745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619875" y="5334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0CE87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29" name="Straight Arrow Connector 28">
            <a:extLst xmlns:a="http://schemas.openxmlformats.org/drawingml/2006/main">
              <a:ext uri="{FF2B5EF4-FFF2-40B4-BE49-F238E27FC236}">
                <a16:creationId xmlns:a16="http://schemas.microsoft.com/office/drawing/2014/main" id="{98A0DC42-B72F-4681-9DA9-DE9B006B3BED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838450" y="53340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0CE87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Connector: Elbow 29">
            <a:extLst xmlns:a="http://schemas.openxmlformats.org/drawingml/2006/main">
              <a:ext uri="{FF2B5EF4-FFF2-40B4-BE49-F238E27FC236}">
                <a16:creationId xmlns:a16="http://schemas.microsoft.com/office/drawing/2014/main" id="{15237834-2BD1-4CD5-B868-AF92F8D6AB2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4429125" y="2419350"/>
            <a:ext cx="2757488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0CE87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1" name="Straight Arrow Connector 30">
            <a:extLst xmlns:a="http://schemas.openxmlformats.org/drawingml/2006/main">
              <a:ext uri="{FF2B5EF4-FFF2-40B4-BE49-F238E27FC236}">
                <a16:creationId xmlns:a16="http://schemas.microsoft.com/office/drawing/2014/main" id="{FDED5537-B0C3-4D42-8443-E2133807C5D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353425" y="37528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0CE87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2" name="Straight Arrow Connector 31">
            <a:extLst xmlns:a="http://schemas.openxmlformats.org/drawingml/2006/main">
              <a:ext uri="{FF2B5EF4-FFF2-40B4-BE49-F238E27FC236}">
                <a16:creationId xmlns:a16="http://schemas.microsoft.com/office/drawing/2014/main" id="{EF22B538-CDCB-4EE6-8183-E09BCAEAFD5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24500" y="37528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0CE87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3" name="Straight Arrow Connector 32">
            <a:extLst xmlns:a="http://schemas.openxmlformats.org/drawingml/2006/main">
              <a:ext uri="{FF2B5EF4-FFF2-40B4-BE49-F238E27FC236}">
                <a16:creationId xmlns:a16="http://schemas.microsoft.com/office/drawing/2014/main" id="{0A5D76E5-82D0-48F8-B687-D680AEB40F4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38450" y="37528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0CE87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4" name="Straight Arrow Connector 33">
            <a:extLst xmlns:a="http://schemas.openxmlformats.org/drawingml/2006/main">
              <a:ext uri="{FF2B5EF4-FFF2-40B4-BE49-F238E27FC236}">
                <a16:creationId xmlns:a16="http://schemas.microsoft.com/office/drawing/2014/main" id="{A69B6547-C272-408F-A349-F2A1CB6627A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20383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0CE87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" name="Straight Arrow Connector 34">
            <a:extLst xmlns:a="http://schemas.openxmlformats.org/drawingml/2006/main">
              <a:ext uri="{FF2B5EF4-FFF2-40B4-BE49-F238E27FC236}">
                <a16:creationId xmlns:a16="http://schemas.microsoft.com/office/drawing/2014/main" id="{27DC8B03-5D4C-4654-BF74-0CAA60FDE67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38450" y="20383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0CE87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B10DBE1-F423-44D7-8B58-ECFF6C7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4F1E8"/>
                </a:solidFill>
                <a:latin typeface="Tahoma"/>
                <a:ea typeface="Tahoma"/>
                <a:cs typeface="Tahoma"/>
              </a:rPr>
              <a:t>Two answer paths, one local system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FB22AEE-5AD0-4250-A85A-D21FF11C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C401804-400D-4CE4-A2CE-62A07A76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62B"/>
          </a:solidFill>
          <a:ln xmlns:a="http://schemas.openxmlformats.org/drawingml/2006/main" w="9525">
            <a:solidFill>
              <a:srgbClr val="6883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312 Wiki pages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Pinned revisions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0B2CB6-4B24-40AE-8E0D-A9E04A86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62B"/>
          </a:solidFill>
          <a:ln xmlns:a="http://schemas.openxmlformats.org/drawingml/2006/main" w="9525">
            <a:solidFill>
              <a:srgbClr val="6883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Clean and chunk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256 tokens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81CA2A-7426-4E30-AADA-1577AB53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2333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62B"/>
          </a:solidFill>
          <a:ln xmlns:a="http://schemas.openxmlformats.org/drawingml/2006/main" w="9525">
            <a:solidFill>
              <a:srgbClr val="6883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CPU BGE index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and BM25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4A98B3-C47C-4268-9E7A-6FBB6424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228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62B"/>
          </a:solidFill>
          <a:ln xmlns:a="http://schemas.openxmlformats.org/drawingml/2006/main" w="9525">
            <a:solidFill>
              <a:srgbClr val="6883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Question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Scope + parser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901CF8-0520-4A77-BD09-44B97F2B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2422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62B"/>
          </a:solidFill>
          <a:ln xmlns:a="http://schemas.openxmlformats.org/drawingml/2006/main" w="9525">
            <a:solidFill>
              <a:srgbClr val="6883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Dense + BM25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RRF merge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B0CD6E7-C6D7-4D42-9F17-6EE255E8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24225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62B"/>
          </a:solidFill>
          <a:ln xmlns:a="http://schemas.openxmlformats.org/drawingml/2006/main" w="9525">
            <a:solidFill>
              <a:srgbClr val="6883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Rerank 20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Keep 5 passages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B4EF53-4CCE-44DA-B568-5A1D759C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24225"/>
            <a:ext cx="26574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840"/>
          </a:solidFill>
          <a:ln xmlns:a="http://schemas.openxmlformats.org/drawingml/2006/main" w="9525">
            <a:solidFill>
              <a:srgbClr val="6883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Local Qwen 4B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Cited answer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BD24DA1-82DE-4FFE-866D-4D6B5B1E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62B"/>
          </a:solidFill>
          <a:ln xmlns:a="http://schemas.openxmlformats.org/drawingml/2006/main" w="9525">
            <a:solidFill>
              <a:srgbClr val="6883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Official recipes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Java 26.3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EAC50F2-F5CA-4725-ABC8-B8B0DA6B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3286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840"/>
          </a:solidFill>
          <a:ln xmlns:a="http://schemas.openxmlformats.org/drawingml/2006/main" w="9525">
            <a:solidFill>
              <a:srgbClr val="6883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Validate + calculate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Direct ingredients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A42466E-AA69-4E97-9DCB-B57A85D0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953000"/>
            <a:ext cx="4352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62B"/>
          </a:solidFill>
          <a:ln xmlns:a="http://schemas.openxmlformats.org/drawingml/2006/main" w="9525">
            <a:solidFill>
              <a:srgbClr val="68835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ctr">
              <a:defRPr sz="18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Craft tool interface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Quantity + trace or clarification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7B7669F-69BB-4E00-AE0F-2E148D95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725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1725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1725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1725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1725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1725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1725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1725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1725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1725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Clear recipes bypass generation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297000-78EC-4F95-B4AD-78CA5CB5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4196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Agentic tool loop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6FD9D42-D7D3-492E-9F79-8BFB9764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Embedding and reranking run on CPU. Generation uses local Ollama.</a:t>
            </a:r>
          </a:p>
        </p:txBody>
      </p:sp>
    </p:spTree>
    <p:extLst>
      <p:ext uri="{BB962C8B-B14F-4D97-AF65-F5344CB8AC3E}">
        <p14:creationId xmlns:p14="http://schemas.microsoft.com/office/powerpoint/2010/main" val="1000326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218A7-A9A9-463E-83D2-E6C271C7E6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5f7f41d2e438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738B7E8-BF3C-4487-8675-B3A10614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4F1E8"/>
                </a:solidFill>
                <a:latin typeface="Tahoma"/>
                <a:ea typeface="Tahoma"/>
                <a:cs typeface="Tahoma"/>
              </a:rPr>
              <a:t>Corpus and chunking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3D9652-173E-4D7F-9EC4-39BA745F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29AEC19-05EA-4DC2-B658-1674B393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57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72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72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72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72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72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72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72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72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72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72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72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7200" b="1">
                <a:solidFill>
                  <a:srgbClr val="B0CE87"/>
                </a:solidFill>
                <a:latin typeface="Tahoma"/>
                <a:ea typeface="Tahoma"/>
                <a:cs typeface="Tahoma"/>
              </a:rPr>
              <a:t>312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7CCF57-77A9-401D-9B61-60BD7A7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24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24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24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24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24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24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24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24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24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distinct real Wiki pages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890E48-B8B4-4370-A990-99619DE5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210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About 817,000 words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Exact page revisions retained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C0D6B94-EF34-4B54-9DF6-98A84A19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520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27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27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27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27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27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27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27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27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27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B0CE87"/>
                </a:solidFill>
                <a:latin typeface="Tahoma"/>
                <a:ea typeface="Tahoma"/>
                <a:cs typeface="Tahoma"/>
              </a:rPr>
              <a:t>256-token chunks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0CC26D6-DD60-450F-9B4B-9D6E5460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5200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Keep section and paragraph boundaries.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Split oversized paragraphs.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No overlap.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3577A0B-23C2-424C-B0FA-B7B4B31F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5200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19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19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19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19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19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19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19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19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19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Compared 128, 256 and 512 tokens.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Historical reranker page hits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were similar: 74.1% to 74.5%.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23CF94-8D33-4172-B56A-82F6D095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The synthetic Q&amp;A pool chooses page titles and supports older diagnostics. It is not the retrieval corpus.</a:t>
            </a:r>
          </a:p>
        </p:txBody>
      </p:sp>
    </p:spTree>
    <p:extLst>
      <p:ext uri="{BB962C8B-B14F-4D97-AF65-F5344CB8AC3E}">
        <p14:creationId xmlns:p14="http://schemas.microsoft.com/office/powerpoint/2010/main" val="368149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3441E-B2D2-45EC-86D3-6F8C77174D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a552f20e7409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876B70-C85E-4CD6-8DA0-EABCB659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4F1E8"/>
                </a:solidFill>
                <a:latin typeface="Tahoma"/>
                <a:ea typeface="Tahoma"/>
                <a:cs typeface="Tahoma"/>
              </a:rPr>
              <a:t>Small models keep the system local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B47116-AB17-443B-A53A-BE787ECB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graphicFrame>
        <p:nvGraphicFramePr>
          <p:cNvPr id="8" name="Table 7">
            <a:extLst xmlns:a="http://schemas.openxmlformats.org/drawingml/2006/main">
              <a:ext uri="{FF2B5EF4-FFF2-40B4-BE49-F238E27FC236}">
                <a16:creationId xmlns:a16="http://schemas.microsoft.com/office/drawing/2014/main" id="{F69D634F-46CC-4418-BB78-26241B60E32A}"/>
              </a:ext>
            </a:extLst>
          </p:cNvPr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286250"/>
                <a:gridCol w="41148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Role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Choice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Purpose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CPU embeddings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BGE-small-en-v1.5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384-dim semantic vectors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Hybrid search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BM25 + dense, RRF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Match names and meaning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CPU reranking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MS MARCO MiniLM-L6-v2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Joint passage scoring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Local generation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Qwen3 4B Instruct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Citations and tool calls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474722E-B97E-4D3E-B9C1-4E4CEE5D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195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195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195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195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195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195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195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195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195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Retrieve 50 per branch. Fuse ranks. Rerank 20. Answer from the top 5.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B350DAA-BC7D-4C6D-926E-C8D98313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Live demo next: recipe quantity, cited gameplay answer, edition boundary.</a:t>
            </a:r>
          </a:p>
        </p:txBody>
      </p:sp>
    </p:spTree>
    <p:extLst>
      <p:ext uri="{BB962C8B-B14F-4D97-AF65-F5344CB8AC3E}">
        <p14:creationId xmlns:p14="http://schemas.microsoft.com/office/powerpoint/2010/main" val="351221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D2EB3-C998-40A3-923B-49EB01FC9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e476d00c54e7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71BEE17-0FE8-41DF-AF7D-FC41F490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4F1E8"/>
                </a:solidFill>
                <a:latin typeface="Tahoma"/>
                <a:ea typeface="Tahoma"/>
                <a:cs typeface="Tahoma"/>
              </a:rPr>
              <a:t>Retrieved evidence improves factual answers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D5E4940-5211-4234-8AB6-0E499717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3ED62451-ED35-4B86-A709-621F66C2E51D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124200"/>
                <a:gridCol w="3276600"/>
              </a:tblGrid>
              <a:tr h="6667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Variant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Judged correct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Quote in top 5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No retrieval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9/34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Not applicable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Dense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27/34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31/34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Hybrid + reranker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26/34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30/34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35967BF-92CC-4C67-BCE3-FB75E9B5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B0CE87"/>
                </a:solidFill>
                <a:latin typeface="Tahoma"/>
                <a:ea typeface="Tahoma"/>
                <a:cs typeface="Tahoma"/>
              </a:rPr>
              <a:t>Evidence gives the model facts it could otherwise guess.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3F7051-7C69-4C55-B738-047E3309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Reranking did not establish a gain over dense retrieval.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819D26-FAC0-488D-A21C-2A1CC83D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Frozen v1 test: 34 facts + 6 negatives. Automatic same-model judge. Historical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9054686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AA4D9-8C27-4B68-8A92-BB2161628B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6312f2b4c4c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799B8D-CE5C-4ACE-BEF5-A654E147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4F1E8"/>
                </a:solidFill>
                <a:latin typeface="Tahoma"/>
                <a:ea typeface="Tahoma"/>
                <a:cs typeface="Tahoma"/>
              </a:rPr>
              <a:t>The recipe tool improves quantity answers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65DD18-30DE-4BBB-BDCC-4590C73E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C549405D-8620-48F3-AF46-4EB1763267B8}"/>
              </a:ext>
            </a:extLst>
          </p:cNvPr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124200"/>
                <a:gridCol w="3276600"/>
              </a:tblGrid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Same 40 questions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Exact quantity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Correct (%)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Without recipe tool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1/40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2.5%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B0CE87"/>
                          </a:solidFill>
                          <a:latin typeface="Tahoma"/>
                          <a:ea typeface="Tahoma"/>
                          <a:cs typeface="Tahoma"/>
                        </a:rPr>
                        <a:t>With recipe tool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049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B0CE87"/>
                          </a:solidFill>
                          <a:latin typeface="Tahoma"/>
                          <a:ea typeface="Tahoma"/>
                          <a:cs typeface="Tahoma"/>
                        </a:rPr>
                        <a:t>37/40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049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B0CE87"/>
                          </a:solidFill>
                          <a:latin typeface="Tahoma"/>
                          <a:ea typeface="Tahoma"/>
                          <a:cs typeface="Tahoma"/>
                        </a:rPr>
                        <a:t>92.5%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04932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2E0609-BDB2-426D-9BBB-681B4114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B0CE87"/>
                </a:solidFill>
                <a:latin typeface="Tahoma"/>
                <a:ea typeface="Tahoma"/>
                <a:cs typeface="Tahoma"/>
              </a:rPr>
              <a:t>Official recipe slots determine ingredient consumption.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52A45EC-DD7F-45DC-A190-013E9029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All 3 misses made no tool call, so routing is the weak point.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08B14E6-512E-4216-91EE-EB2280F0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Frozen v2 test. Direct ingredients only, without inventory reuse or recursive material planning.</a:t>
            </a:r>
          </a:p>
        </p:txBody>
      </p:sp>
    </p:spTree>
    <p:extLst>
      <p:ext uri="{BB962C8B-B14F-4D97-AF65-F5344CB8AC3E}">
        <p14:creationId xmlns:p14="http://schemas.microsoft.com/office/powerpoint/2010/main" val="18050647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C2402-C825-4F4C-9B0C-BA8D8A4B0A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ee249ee2449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63C6403-4F88-44FC-BFEC-0DB289EC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4F1E8"/>
                </a:solidFill>
                <a:latin typeface="Tahoma"/>
                <a:ea typeface="Tahoma"/>
                <a:cs typeface="Tahoma"/>
              </a:rPr>
              <a:t>Both metrics favour retrieval</a:t>
            </a:r>
            <a:endParaRPr sz="3300" b="1">
              <a:solidFill>
                <a:srgbClr val="142B2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EFDCD59-FC29-4838-8B47-A73798D3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304E852D-D424-40D9-BFEE-E03FB0D24B87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124200"/>
                <a:gridCol w="3276600"/>
              </a:tblGrid>
              <a:tr h="6096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Variant</a:t>
                      </a:r>
                      <a:endParaRPr sz="2325" b="1">
                        <a:solidFill>
                          <a:srgbClr val="FFFFFF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LLM judge correct</a:t>
                      </a:r>
                      <a:endParaRPr sz="2325" b="1">
                        <a:solidFill>
                          <a:srgbClr val="FFFFFF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BERTScore F1</a:t>
                      </a:r>
                      <a:endParaRPr sz="2325" b="1">
                        <a:solidFill>
                          <a:srgbClr val="FFFFFF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No retrieval</a:t>
                      </a:r>
                      <a:endParaRPr sz="2325">
                        <a:solidFill>
                          <a:srgbClr val="142B2A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9/34</a:t>
                      </a:r>
                      <a:endParaRPr sz="2325">
                        <a:solidFill>
                          <a:srgbClr val="142B2A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0.294</a:t>
                      </a:r>
                      <a:endParaRPr sz="2325">
                        <a:solidFill>
                          <a:srgbClr val="142B2A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Dense</a:t>
                      </a:r>
                      <a:endParaRPr sz="2325">
                        <a:solidFill>
                          <a:srgbClr val="142B2A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27/34</a:t>
                      </a:r>
                      <a:endParaRPr sz="2325">
                        <a:solidFill>
                          <a:srgbClr val="142B2A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0.493</a:t>
                      </a:r>
                      <a:endParaRPr sz="2325">
                        <a:solidFill>
                          <a:srgbClr val="142B2A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Hybrid + reranker</a:t>
                      </a:r>
                      <a:endParaRPr sz="2325">
                        <a:solidFill>
                          <a:srgbClr val="142B2A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26/34</a:t>
                      </a:r>
                      <a:endParaRPr sz="2325">
                        <a:solidFill>
                          <a:srgbClr val="142B2A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0.451</a:t>
                      </a:r>
                      <a:endParaRPr sz="2325">
                        <a:solidFill>
                          <a:srgbClr val="142B2A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4D74EE3-0704-4193-BE89-02B551C7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B0CE87"/>
                </a:solidFill>
                <a:latin typeface="Tahoma"/>
                <a:ea typeface="Tahoma"/>
                <a:cs typeface="Tahoma"/>
              </a:rPr>
              <a:t>Correctness checks facts. BERTScore checks similarity.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5A8551E-AA4A-4F75-AC38-27BB3F3F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202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Both compare with pinned references. Neither is human validation.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048D7B-7468-4129-97A8-D4400DAA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165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Same 34 test facts as slide 6. Same-model judge; reranking showed no gain over dense.</a:t>
            </a:r>
            <a:endParaRPr sz="1650" b="0">
              <a:solidFill>
                <a:srgbClr val="536563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02498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8DC78-BB44-4123-A8E9-F6E1E01EC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ebfe4cc2245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42315-23BC-421E-86D6-02BBA903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4F1E8"/>
                </a:solidFill>
                <a:latin typeface="Tahoma"/>
                <a:ea typeface="Tahoma"/>
                <a:cs typeface="Tahoma"/>
              </a:rPr>
              <a:t>Correct numbers can still hide wrong claims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BB95E4-682F-4833-A273-D119CE7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graphicFrame>
        <p:nvGraphicFramePr>
          <p:cNvPr id="8" name="Table 7">
            <a:extLst xmlns:a="http://schemas.openxmlformats.org/drawingml/2006/main">
              <a:ext uri="{FF2B5EF4-FFF2-40B4-BE49-F238E27FC236}">
                <a16:creationId xmlns:a16="http://schemas.microsoft.com/office/drawing/2014/main" id="{8CC96E76-11DA-47F8-90B5-53C33BFD777C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19700"/>
                <a:gridCol w="5753100"/>
              </a:tblGrid>
              <a:tr h="807244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Observed failure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Why it happens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T w="9525">
                      <a:solidFill>
                        <a:srgbClr val="4B6250"/>
                      </a:solidFill>
                      <a:prstDash val="solid"/>
                    </a:lnT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395B3E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Useful Java evidence removed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Historical and edition rules share paragraphs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Right ingredient, wrong explanation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The model adds claims beyond the tool result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25362B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Judge verdict can be wrong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4B6250"/>
                      </a:solidFill>
                      <a:prstDash val="solid"/>
                    </a:lnL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4F1E8"/>
                          </a:solidFill>
                          <a:latin typeface="Tahoma"/>
                          <a:ea typeface="Tahoma"/>
                          <a:cs typeface="Tahoma"/>
                        </a:rPr>
                        <a:t>Generator and judge use the same local model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4B6250"/>
                      </a:solidFill>
                      <a:prstDash val="solid"/>
                    </a:lnR>
                    <a:lnB w="9525">
                      <a:solidFill>
                        <a:srgbClr val="4B6250"/>
                      </a:solidFill>
                      <a:prstDash val="solid"/>
                    </a:lnB>
                    <a:solidFill>
                      <a:srgbClr val="1B2921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5E45300-BED3-4A98-BA2C-D50880B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B0CE87"/>
                </a:solidFill>
                <a:latin typeface="Tahoma"/>
                <a:ea typeface="Tahoma"/>
                <a:cs typeface="Tahoma"/>
              </a:rPr>
              <a:t>Keep raw answers, citations and tool traces for review.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6912CD-4184-4AE8-854D-D24AA242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172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Next: improve mixed-section handling and independently review labels on a fresh test set.</a:t>
            </a:r>
          </a:p>
        </p:txBody>
      </p:sp>
    </p:spTree>
    <p:extLst>
      <p:ext uri="{BB962C8B-B14F-4D97-AF65-F5344CB8AC3E}">
        <p14:creationId xmlns:p14="http://schemas.microsoft.com/office/powerpoint/2010/main" val="1865747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C538F-DDA5-4225-AA07-C8AF928CD4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65fdf32904d6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5749FE3-850B-4FF2-A742-C90BE7CA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4F1E8"/>
                </a:solidFill>
                <a:latin typeface="Tahoma"/>
                <a:ea typeface="Tahoma"/>
                <a:cs typeface="Tahoma"/>
              </a:rPr>
              <a:t>AI audit: three decisions and one caught error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BC83E2-0AC9-4171-A866-F493E0D6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r">
              <a:defRPr sz="150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0CE87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9A7C948-BB94-44AA-90E5-3E896F6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B0CE87"/>
                </a:solidFill>
                <a:latin typeface="Tahoma"/>
                <a:ea typeface="Tahoma"/>
                <a:cs typeface="Tahoma"/>
              </a:rPr>
              <a:t>Three AI-owned decisions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D646553-7A8A-417B-BFE9-3A320EDA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256-token section chunks: balance context and cost.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539958-689E-4124-BAD4-5A9ECEA9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CPU BGE embeddings: compact English retrieval.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6DED348-36FD-42EA-9FB0-83DFED43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2175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Official recipe calculation: exact quantities, with a tool loop.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A0A79B-389E-4257-A1B1-8FA6126F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defPPr>
            <a:lvl1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1pPr>
            <a:lvl2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2pPr>
            <a:lvl3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3pPr>
            <a:lvl4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4pPr>
            <a:lvl5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5pPr>
            <a:lvl6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6pPr>
            <a:lvl7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7pPr>
            <a:lvl8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8pPr>
            <a:lvl9pPr algn="l"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B0CE87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B0CE87"/>
                </a:solidFill>
                <a:latin typeface="Tahoma"/>
                <a:ea typeface="Tahoma"/>
                <a:cs typeface="Tahoma"/>
              </a:rPr>
              <a:t>One actual error catch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19538D-749E-4D9B-ACB5-A4A0E20A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defPPr>
            <a:lvl1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1pPr>
            <a:lvl2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2pPr>
            <a:lvl3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3pPr>
            <a:lvl4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4pPr>
            <a:lvl5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5pPr>
            <a:lvl6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6pPr>
            <a:lvl7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7pPr>
            <a:lvl8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8pPr>
            <a:lvl9pPr algn="l">
              <a:defRPr sz="210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The old scorer credited a refusal that repeated a number.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4F1E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4F1E8"/>
                </a:solidFill>
                <a:latin typeface="Tahoma"/>
                <a:ea typeface="Tahoma"/>
                <a:cs typeface="Tahoma"/>
              </a:rPr>
              <a:t>Fix: check the requested ingredient and reject refusals.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8F1FE97-3F23-4DE4-8197-FFFA85DD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7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defPPr>
            <a:lvl1pPr algn="l">
              <a:defRPr sz="157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1pPr>
            <a:lvl2pPr algn="l">
              <a:defRPr sz="157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2pPr>
            <a:lvl3pPr algn="l">
              <a:defRPr sz="157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3pPr>
            <a:lvl4pPr algn="l">
              <a:defRPr sz="157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4pPr>
            <a:lvl5pPr algn="l">
              <a:defRPr sz="157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5pPr>
            <a:lvl6pPr algn="l">
              <a:defRPr sz="157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6pPr>
            <a:lvl7pPr algn="l">
              <a:defRPr sz="157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7pPr>
            <a:lvl8pPr algn="l">
              <a:defRPr sz="157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8pPr>
            <a:lvl9pPr algn="l">
              <a:defRPr sz="1575">
                <a:solidFill>
                  <a:srgbClr val="BAC5B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BAC5B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AC5B9"/>
                </a:solidFill>
                <a:latin typeface="Tahoma"/>
                <a:ea typeface="Tahoma"/>
                <a:cs typeface="Tahoma"/>
              </a:rPr>
              <a:t>Claude Code and Codex built and checked the system.</a:t>
            </a:r>
          </a:p>
        </p:txBody>
      </p:sp>
    </p:spTree>
    <p:extLst>
      <p:ext uri="{BB962C8B-B14F-4D97-AF65-F5344CB8AC3E}">
        <p14:creationId xmlns:p14="http://schemas.microsoft.com/office/powerpoint/2010/main" val="448338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2026-10-23T10:26:19.6440000Z</dcterms:created>
  <dcterms:modified xsi:type="dcterms:W3CDTF">2026-10-23T10:26:19.6440000Z</dcterms:modified>
</coreProperties>
</file>