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0:00–0:25</a:t>
            </a:r>
          </a:p>
          <a:p>
            <a:endParaRPr/>
          </a:p>
          <a:p>
            <a:r>
              <a:t>โปรเจกต์ของเราชื่อ MCQA เป็นผู้ช่วยตอบคำถาม Minecraft Java ที่ทำงานบนเครื่องทั้งหมดครับ คำถามเกี่ยวกับเกมจะค้นเอกสารและแสดงแหล่งอ้างอิง ส่วนจำนวนวัตถุดิบจะคำนวณจากสูตรทางการ เป้าหมายคือให้ผู้เล่นตรวจสอบคำตอบได้ และลดการเดาตัวเลขของโมเดลครับ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docs/sources.md</a:t>
            </a:r>
          </a:p>
          <a:p>
            <a:r>
              <a:t>README.md</a:t>
            </a:r>
          </a:p>
          <a:p>
            <a:r>
              <a:t>AI_AUDIT.md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0:25–1:00</a:t>
            </a:r>
          </a:p>
          <a:p>
            <a:endParaRPr/>
          </a:p>
          <a:p>
            <a:r>
              <a:t>ปัญหามีทั้งคำตอบในวิกิที่ปนหลายเวอร์ชัน และการคำนวณจำนวนวัตถุดิบครับ เช่น ถ้าต้องการ Hopper สามชิ้น ผู้เล่นต้องรู้จำนวน Iron Ingots ที่ต้องใช้ เราจึงแยกวิธีตอบ คำถามข้อเท็จจริงใช้หลักฐาน ส่วนตัวเลขใช้เครื่องมือคำนวณ และตั้งขอบเขตเป็น Java Edition ระบบนี้ใช้งานโดยไม่เสียค่า API หลังจากเตรียมโมเดลไว้ในเครื่องครับ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docs/sources.md</a:t>
            </a:r>
          </a:p>
          <a:p>
            <a:r>
              <a:t>README.md</a:t>
            </a:r>
          </a:p>
          <a:p>
            <a:r>
              <a:t>docs/failure_analysis.md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1:00–2:00</a:t>
            </a:r>
          </a:p>
          <a:p>
            <a:endParaRPr/>
          </a:p>
          <a:p>
            <a:r>
              <a:t>แถวบนคือการเตรียมข้อมูลครับ เราเก็บวิกิพร้อม revision แบ่งข้อความตาม section แล้วสร้าง dense index บน CPU พร้อม BM25 เวลารับคำถาม ระบบตรวจขอบเขตก่อน ถ้าเป็นสูตรและจำนวนที่อ่านได้ชัดเจน จะส่งไปคำนวณตรงทันที คำถามอื่นจะค้นเอกสาร รวมอันดับด้วย RRF และเรียงใหม่ก่อนส่งให้ Qwen ตอบพร้อม citation ถ้าเป็นคำถามซับซ้อน โมเดลยังสามารถเรียกเครื่องมือสูตรได้ผ่าน tool loop 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mcqa.py: chunks, Retriever, crafting_intent, answer, _agent_answer</a:t>
            </a:r>
          </a:p>
          <a:p>
            <a:r>
              <a:t>docs/sources.md</a:t>
            </a:r>
          </a:p>
          <a:p>
            <a:r>
              <a:t>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2:00–2:45</a:t>
            </a:r>
          </a:p>
          <a:p>
            <a:endParaRPr/>
          </a:p>
          <a:p>
            <a:r>
              <a:t>ข้อมูลค้นคืนเป็นบทความจริงจาก Minecraft Wiki ไม่ใช่ชุดถามตอบสังเคราะห์ครับ มี 312 หน้าที่ไม่ซ้ำกันและประมาณแปดแสนหนึ่งหมื่นเจ็ดพันคำ เราเก็บ revision ของแต่ละหน้าไว้ เราเปรียบเทียบ chunk ขนาด 128, 256 และ 512 โทเคน ผล source-page hit เดิมใกล้กัน จึงใช้ 256 เพื่อรักษาบริบทโดยไม่เพิ่มต้นทุนมาก แบ่งตาม section และ paragraph ก่อน ถ้ายาวเกินจึงแบ่งย่อย ไม่มี overlap ข้อจำกัดคือ corpus ยังมีข้อมูลเก่า และ 312 หน้าไม่ได้ครอบคลุมทุกเรื่องในเกมครับ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docs/sources.md</a:t>
            </a:r>
          </a:p>
          <a:p>
            <a:r>
              <a:t>docs/corpus_inventory.csv</a:t>
            </a:r>
          </a:p>
          <a:p>
            <a:r>
              <a:t>results/RESULTS.md</a:t>
            </a:r>
          </a:p>
          <a:p>
            <a:r>
              <a:t>mcqa.py: chunks</a:t>
            </a:r>
          </a:p>
          <a:p>
            <a:r>
              <a:t>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2:45–4:00; then switch to the live demo until 7:00</a:t>
            </a:r>
          </a:p>
          <a:p>
            <a:endParaRPr/>
          </a:p>
          <a:p>
            <a:r>
              <a:t>เราใช้ BGE-small ทำ embedding บน CPU ครับ BM25 ช่วยเรื่องชื่อ item ที่ตรงคำ ส่วน dense retrieval ช่วยจับความหมาย RRF รวมอันดับโดยไม่ต้องทำให้คะแนนสองระบบอยู่ในสเกลเดียวกัน จากนั้น cross-encoder จะอ่านคำถามกับ passage คู่กันแล้วเลือกห้าอันดับแรก ส่วน Qwen 4B ทำหน้าที่ตอบและวางแผนเรียกเครื่องมือ โมเดลทั้งหมดมีอยู่ในเครื่อง แต่เราไม่สรุปว่าการเพิ่ม reranker จะทำให้ดีกว่าเสมอ ต้องดูผล ablation ต่อไปครับ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docs/sources.md</a:t>
            </a:r>
          </a:p>
          <a:p>
            <a:r>
              <a:t>mcqa.py: embedder, reranker, Retriever, chat</a:t>
            </a:r>
          </a:p>
          <a:p>
            <a:r>
              <a:t>results/verified/test/summary.json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7:00–7:35</a:t>
            </a:r>
          </a:p>
          <a:p>
            <a:endParaRPr/>
          </a:p>
          <a:p>
            <a:r>
              <a:t>เริ่มจากผลทดลองชุดแรก ซึ่งมีคำถามข้อเท็จจริง 34 ข้อครับ ถ้าให้โมเดลตอบโดยไม่ค้นเอกสาร จะตอบถูก 9 ข้อ เมื่อใช้ dense retrieval เพิ่มเป็น 27 ข้อ ส่วน hybrid ที่มี reranker ได้ 26 ข้อ ผลนี้สนับสนุนว่าการค้นเอกสารช่วยได้ แต่ยังไม่เห็นข้อได้เปรียบชัดเจนของ reranker คะแนนเหล่านี้มาจากการทดลองรุ่นเดิมที่เก็บไว้ และใช้โมเดลเป็นผู้ประเมินครับ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results/verified/test/summary.json</a:t>
            </a:r>
          </a:p>
          <a:p>
            <a:r>
              <a:t>results/verified/test/RESULTS.md</a:t>
            </a:r>
          </a:p>
          <a:p>
            <a:r>
              <a:t>results/verified/test/config.json</a:t>
            </a:r>
          </a:p>
          <a:p>
            <a:r>
              <a:t>data/java_benchmark.jsonl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7:35–8:10</a:t>
            </a:r>
          </a:p>
          <a:p>
            <a:endParaRPr/>
          </a:p>
          <a:p>
            <a:r>
              <a:t>สำหรับการคำนวณวัตถุดิบ เราเปรียบเทียบคำถาม 40 ข้อ โดยเปิดและปิดเครื่องมือ เมื่อไม่มีเครื่องมือ ตอบจำนวนถูกเพียง 1 ข้อ แต่เมื่อใช้เครื่องมือ ถูก 37 ข้อ เครื่องมืออ่านสูตรทางการแล้วคำนวณจำนวนรอบการคราฟต์ให้ ส่วนสามข้อที่ผิดไม่ได้เรียกเครื่องมือเลย จุดที่ยังติดจึงเป็นการส่งคำถามไปใช้เครื่องมือ ผลนี้วัดจำนวนวัตถุดิบโดยตรง ยังไม่ครอบคลุมการวางแผนจากของทั้งหมดในคลังครับ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results/verified/tool_final/summary.json</a:t>
            </a:r>
          </a:p>
          <a:p>
            <a:r>
              <a:t>results/verified/tool_final/RESULTS.md</a:t>
            </a:r>
          </a:p>
          <a:p>
            <a:r>
              <a:t>results/verified/tool_final/answers.jsonl</a:t>
            </a:r>
          </a:p>
          <a:p>
            <a:r>
              <a:t>docs/sources.md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ผลประเมินด้วยสองตัวชี้วัด บนชุดทดสอบเดียวกับสไลด์ 6 คือข้อเท็จจริง 34 ข้อครับ ถ้าไม่ใช้การค้นคืน ตอบถูกแค่ 9 ข้อ และได้ </a:t>
            </a:r>
            <a:r>
              <a:rPr lang="en-US"/>
              <a:t>BERTScore </a:t>
            </a:r>
            <a:r>
              <a:rPr lang="th-TH"/>
              <a:t>จุดสองเก้าสี่ </a:t>
            </a:r>
            <a:r>
              <a:rPr lang="en-US"/>
              <a:t>Dense </a:t>
            </a:r>
            <a:r>
              <a:rPr lang="th-TH"/>
              <a:t>ตอบถูก 27 ข้อ ได้ </a:t>
            </a:r>
            <a:r>
              <a:rPr lang="en-US"/>
              <a:t>BERTScore </a:t>
            </a:r>
            <a:r>
              <a:rPr lang="th-TH"/>
              <a:t>จุดสี่เก้าสาม ส่วน </a:t>
            </a:r>
            <a:r>
              <a:rPr lang="en-US"/>
              <a:t>hybrid </a:t>
            </a:r>
            <a:r>
              <a:rPr lang="th-TH"/>
              <a:t>กับ </a:t>
            </a:r>
            <a:r>
              <a:rPr lang="en-US"/>
              <a:t>reranker </a:t>
            </a:r>
            <a:r>
              <a:rPr lang="th-TH"/>
              <a:t>ตอบถูก 26 ข้อ ได้ </a:t>
            </a:r>
            <a:r>
              <a:rPr lang="en-US"/>
              <a:t>BERTScore </a:t>
            </a:r>
            <a:r>
              <a:rPr lang="th-TH"/>
              <a:t>จุดสี่ห้าหนึ่ง ทั้งสองตัวชี้วัดบอกตรงกันว่าการค้นคืนช่วยให้คำตอบดีขึ้นมาก แต่ </a:t>
            </a:r>
            <a:r>
              <a:rPr lang="en-US"/>
              <a:t>reranker </a:t>
            </a:r>
            <a:r>
              <a:rPr lang="th-TH"/>
              <a:t>ไม่ได้ดีกว่า </a:t>
            </a:r>
            <a:r>
              <a:rPr lang="en-US"/>
              <a:t>dense </a:t>
            </a:r>
            <a:r>
              <a:rPr lang="th-TH"/>
              <a:t>การตัดสินความถูกต้องเทียบข้อเท็จจริงในคำตอบกับคำตอบอ้างอิง ส่วน </a:t>
            </a:r>
            <a:r>
              <a:rPr lang="en-US"/>
              <a:t>BERTScore </a:t>
            </a:r>
            <a:r>
              <a:rPr lang="th-TH"/>
              <a:t>วัดความคล้ายของข้อความ ผู้ตัดสินเป็นโมเดลเดียวกับที่ตอบ และยังไม่มีการตรวจโดยคนครับ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8:45–9:20</a:t>
            </a:r>
          </a:p>
          <a:p>
            <a:endParaRPr/>
          </a:p>
          <a:p>
            <a:r>
              <a:t>ระบบยังมีข้อจำกัดสามเรื่องครับ หนึ่ง การกรองข้อความของเวอร์ชันอื่นอาจตัดข้อมูล Java ที่ใช้ได้ออกไปด้วย สอง คำถามหลายส่วนอาจได้ตัวเลขจากเครื่องมือถูก แต่คำอธิบายที่โมเดลเติมยังไม่มีหลักฐานรองรับ และสาม เราใช้โมเดลเดียวกันตอบและประเมิน จึงมีโอกาสประเมินผิดหรือเข้าข้างคำตอบของตัวเอง เราเก็บคำตอบดิบและแหล่งอ้างอิงไว้ เพื่อให้ย้อนตรวจข้อผิดพลาดเหล่านี้ได้ครับ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results/improvement_review/analysis_notes.md</a:t>
            </a:r>
          </a:p>
          <a:p>
            <a:r>
              <a:t>docs/failure_analysis.md</a:t>
            </a:r>
          </a:p>
          <a:p>
            <a:r>
              <a:t>results/improvement_review/after_answers.jsonl</a:t>
            </a:r>
          </a:p>
          <a:p>
            <a:r>
              <a:t>results/improvement_review/human_check.csv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9:20–10:00; then individual Q&amp;A</a:t>
            </a:r>
          </a:p>
          <a:p>
            <a:endParaRPr/>
          </a:p>
          <a:p>
            <a:r>
              <a:t>ใน AI Audit เราระบุอย่างตรงไปตรงมาว่า AI เป็นผู้เลือกสามแนวทางนี้ ได้แก่ chunk ขนาด 256 โทเคน โมเดล BGE ที่ทำงานบน CPU และการคำนวณสูตรทางการแบบตรง โดยเก็บ tool loop สำหรับคำถามที่ซับซ้อน ตัวอย่างข้อผิดพลาดที่พบคือ ตัวให้คะแนนเดิมหยิบเลขตัวแรกจากคำตอบ แม้คำตอบนั้นจะปฏิเสธและแค่ทวนจำนวนในคำถาม จึงถูกแก้ให้ตรวจจำนวนวัตถุดิบที่ถาม และไม่ให้คะแนนคำปฏิเสธครับ</a:t>
            </a:r>
          </a:p>
          <a:p>
            <a:endParaRPr/>
          </a:p>
          <a:p>
            <a:r>
              <a:t>Sources (project-relative paths):</a:t>
            </a:r>
          </a:p>
          <a:p>
            <a:r>
              <a:t>AI_AUDIT.md: Decision Journal and Error Catch Log</a:t>
            </a:r>
          </a:p>
          <a:p>
            <a:r>
              <a:t>docs/codex_prompt_history.md</a:t>
            </a:r>
          </a:p>
          <a:p>
            <a:r>
              <a:t>codextodo.md</a:t>
            </a:r>
          </a:p>
          <a:p>
            <a:r>
              <a:t>docs/codex_review.md</a:t>
            </a:r>
          </a:p>
          <a:p>
            <a:r>
              <a:t>test_eval.py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AB77E83-5F70-4FF4-91DF-5289FCCE9F6C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A5BEAD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A5BEAD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9CFA94-FA21-4BAC-8D8F-7A9AE5B14094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7280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7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MCQA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09B892-A56F-44B5-ACB9-EC1D7AE2D7CC}"/>
              </a:ext>
            </a:extLst>
          </p:cNvPr>
          <p:cNvSpPr>
            <a:spLocks noGrp="1"/>
          </p:cNvSpPr>
          <p:nvPr/>
        </p:nvSpPr>
        <p:spPr>
          <a:xfrm>
            <a:off x="647700" y="2724150"/>
            <a:ext cx="10668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6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Minecraft answers you can check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90BC1D-D3A7-4DF5-91A9-254519CD0C2E}"/>
              </a:ext>
            </a:extLst>
          </p:cNvPr>
          <p:cNvSpPr>
            <a:spLocks noGrp="1"/>
          </p:cNvSpPr>
          <p:nvPr/>
        </p:nvSpPr>
        <p:spPr>
          <a:xfrm>
            <a:off x="647700" y="390525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0">
                <a:solidFill>
                  <a:srgbClr val="CEE2D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CEE2D3"/>
                </a:solidFill>
                <a:latin typeface="Tahoma"/>
                <a:ea typeface="Tahoma"/>
                <a:cs typeface="Tahoma"/>
              </a:rPr>
              <a:t>Cited Wiki evidence and official recipe calculations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DCBE1-4B91-4CF8-8B9F-7A0C4212DF0C}"/>
              </a:ext>
            </a:extLst>
          </p:cNvPr>
          <p:cNvSpPr>
            <a:spLocks noGrp="1"/>
          </p:cNvSpPr>
          <p:nvPr/>
        </p:nvSpPr>
        <p:spPr>
          <a:xfrm>
            <a:off x="647700" y="46386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A7D0B5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A7D0B5"/>
                </a:solidFill>
                <a:latin typeface="Tahoma"/>
                <a:ea typeface="Tahoma"/>
                <a:cs typeface="Tahoma"/>
              </a:rPr>
              <a:t>Fully local · Minecraft Java 26.3 target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650A0C-D94E-4EF2-8B92-6763F06F0B76}"/>
              </a:ext>
            </a:extLst>
          </p:cNvPr>
          <p:cNvSpPr>
            <a:spLocks noGrp="1"/>
          </p:cNvSpPr>
          <p:nvPr/>
        </p:nvSpPr>
        <p:spPr>
          <a:xfrm>
            <a:off x="647700" y="5514975"/>
            <a:ext cx="100012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 algn="l">
              <a:defRPr sz="180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</a:lstStyle>
          <a:p>
            <a:pPr algn="l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Natdanai Phurintanachot (67070230)</a:t>
            </a:r>
          </a:p>
          <a:p>
            <a:pPr algn="l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Nattapong Suphawirojlert (67070051)</a:t>
            </a:r>
          </a:p>
        </p:txBody>
      </p:sp>
    </p:spTree>
    <p:extLst>
      <p:ext uri="{BB962C8B-B14F-4D97-AF65-F5344CB8AC3E}">
        <p14:creationId xmlns:p14="http://schemas.microsoft.com/office/powerpoint/2010/main" val="1408117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67D864-2AFB-4087-8ADC-9A72EF89595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Players need facts and exact amounts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37B5C6-D1C6-4636-8F38-D1CF1E9E0F4B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E6040D-3460-4892-950F-9EDF16DE2037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49053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Gameplay questions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ACDE35-640A-47D0-AEF3-55C1B0827BDC}"/>
              </a:ext>
            </a:extLst>
          </p:cNvPr>
          <p:cNvSpPr>
            <a:spLocks noGrp="1"/>
          </p:cNvSpPr>
          <p:nvPr/>
        </p:nvSpPr>
        <p:spPr>
          <a:xfrm>
            <a:off x="609600" y="2447925"/>
            <a:ext cx="4762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Wiki pages mix editions</a:t>
            </a:r>
          </a:p>
          <a:p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historical rules.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792C42-A584-43E2-91D5-2AFEFD587604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47625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Retrieve passages and</a:t>
            </a:r>
          </a:p>
          <a:p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show revision links.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C6D2C-9CFE-4AE3-AA4F-A4D3B5960D11}"/>
              </a:ext>
            </a:extLst>
          </p:cNvPr>
          <p:cNvSpPr>
            <a:spLocks noGrp="1"/>
          </p:cNvSpPr>
          <p:nvPr/>
        </p:nvSpPr>
        <p:spPr>
          <a:xfrm>
            <a:off x="6343650" y="182880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Crafting questions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D10B65-0280-4380-B912-DDAE31977914}"/>
              </a:ext>
            </a:extLst>
          </p:cNvPr>
          <p:cNvSpPr>
            <a:spLocks noGrp="1"/>
          </p:cNvSpPr>
          <p:nvPr/>
        </p:nvSpPr>
        <p:spPr>
          <a:xfrm>
            <a:off x="6343650" y="2447925"/>
            <a:ext cx="5238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"How many iron ingots</a:t>
            </a:r>
          </a:p>
          <a:p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for 3 hoppers?"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4F1D7-7135-424B-9FD0-E68C765BC8C4}"/>
              </a:ext>
            </a:extLst>
          </p:cNvPr>
          <p:cNvSpPr>
            <a:spLocks noGrp="1"/>
          </p:cNvSpPr>
          <p:nvPr/>
        </p:nvSpPr>
        <p:spPr>
          <a:xfrm>
            <a:off x="6343650" y="3971925"/>
            <a:ext cx="5238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Read an official recipe</a:t>
            </a:r>
          </a:p>
          <a:p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and calculate the batches.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C6E4EA-D4BE-45FE-AA90-2CB48C36B80C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Scope: direct crafting and supported Java evidence. Other editions need a clear boundary.</a:t>
            </a:r>
          </a:p>
        </p:txBody>
      </p:sp>
    </p:spTree>
    <p:extLst>
      <p:ext uri="{BB962C8B-B14F-4D97-AF65-F5344CB8AC3E}">
        <p14:creationId xmlns:p14="http://schemas.microsoft.com/office/powerpoint/2010/main" val="138813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542C0DA-62E3-4236-A481-71A52E0626CE}"/>
              </a:ext>
            </a:extLst>
          </p:cNvPr>
          <p:cNvCxnSpPr>
            <a:stCxn id="11" idx="2"/>
            <a:endCxn id="18" idx="0"/>
          </p:cNvCxnSpPr>
          <p:nvPr/>
        </p:nvCxnSpPr>
        <p:spPr>
          <a:xfrm flipH="1">
            <a:off x="9405938" y="4181475"/>
            <a:ext cx="847725" cy="7715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4774F"/>
            </a:solidFill>
            <a:prstDash val="dash"/>
            <a:headEnd type="triangle" w="med" len="med"/>
            <a:tailEnd type="triangle" w="med" len="med"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3657C3-FCEA-4C06-BE5A-79D7114EC13F}"/>
              </a:ext>
            </a:extLst>
          </p:cNvPr>
          <p:cNvCxnSpPr>
            <a:stCxn id="8" idx="2"/>
            <a:endCxn id="17" idx="0"/>
          </p:cNvCxnSpPr>
          <p:nvPr/>
        </p:nvCxnSpPr>
        <p:spPr>
          <a:xfrm>
            <a:off x="1724025" y="4181475"/>
            <a:ext cx="3252788" cy="7715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1F0CD15-0903-49F4-85AD-5A674B16617C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6619875" y="5334000"/>
            <a:ext cx="6096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823F7A-C877-4E00-AE68-FF9590C6CFB7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2838450" y="5334000"/>
            <a:ext cx="4953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698A58C-7E46-4A5D-84CF-AF6649D7882F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4429125" y="2419350"/>
            <a:ext cx="2757488" cy="9048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25E7DFE-312F-43DC-984E-3D3C943EE863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353425" y="3752850"/>
            <a:ext cx="5715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32AE780-3F48-4262-9045-E4DD0C77EB20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524500" y="3752850"/>
            <a:ext cx="4953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1812CF-928B-4E79-B6FE-8DCAC41D7618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838450" y="3752850"/>
            <a:ext cx="4953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B59689-5C6B-4D47-AEF8-4D86686022A7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5524500" y="2038350"/>
            <a:ext cx="4953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7DBCFF6-2FBB-4508-A18C-FDBB5424519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2838450" y="2038350"/>
            <a:ext cx="495300" cy="0"/>
          </a:xfrm>
          <a:prstGeom prst="straightConnector1">
            <a:avLst/>
          </a:prstGeom>
          <a:ln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B10DBE1-F423-44D7-8B58-ECFF6C7DE9E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Two answer paths, one local system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B22AEE-5AD0-4250-A85A-D21FF11CA029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401804-400D-4CE4-A2CE-62A07A76A620}"/>
              </a:ext>
            </a:extLst>
          </p:cNvPr>
          <p:cNvSpPr>
            <a:spLocks noGrp="1"/>
          </p:cNvSpPr>
          <p:nvPr/>
        </p:nvSpPr>
        <p:spPr>
          <a:xfrm>
            <a:off x="609600" y="1657350"/>
            <a:ext cx="2228850" cy="76200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312 Wiki pages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Pinned revisions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0B2CB6-4B24-40AE-8E0D-A9E04A8649AF}"/>
              </a:ext>
            </a:extLst>
          </p:cNvPr>
          <p:cNvSpPr>
            <a:spLocks noGrp="1"/>
          </p:cNvSpPr>
          <p:nvPr/>
        </p:nvSpPr>
        <p:spPr>
          <a:xfrm>
            <a:off x="3333750" y="1657350"/>
            <a:ext cx="2190750" cy="76200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Clean and chunk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 tokens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81CA2A-7426-4E30-AADA-1577AB53B2AE}"/>
              </a:ext>
            </a:extLst>
          </p:cNvPr>
          <p:cNvSpPr>
            <a:spLocks noGrp="1"/>
          </p:cNvSpPr>
          <p:nvPr/>
        </p:nvSpPr>
        <p:spPr>
          <a:xfrm>
            <a:off x="6019800" y="1657350"/>
            <a:ext cx="2333625" cy="76200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index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BM25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4A98B3-C47C-4268-9E7A-6FBB64245152}"/>
              </a:ext>
            </a:extLst>
          </p:cNvPr>
          <p:cNvSpPr>
            <a:spLocks noGrp="1"/>
          </p:cNvSpPr>
          <p:nvPr/>
        </p:nvSpPr>
        <p:spPr>
          <a:xfrm>
            <a:off x="609600" y="3324225"/>
            <a:ext cx="2228850" cy="85725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Question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Scope + parser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901CF8-0520-4A77-BD09-44B97F2B7D21}"/>
              </a:ext>
            </a:extLst>
          </p:cNvPr>
          <p:cNvSpPr>
            <a:spLocks noGrp="1"/>
          </p:cNvSpPr>
          <p:nvPr/>
        </p:nvSpPr>
        <p:spPr>
          <a:xfrm>
            <a:off x="3333750" y="3324225"/>
            <a:ext cx="2190750" cy="85725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Dense + BM25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RRF merge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CD6E7-C6D7-4D42-9F17-6EE255E8E9D3}"/>
              </a:ext>
            </a:extLst>
          </p:cNvPr>
          <p:cNvSpPr>
            <a:spLocks noGrp="1"/>
          </p:cNvSpPr>
          <p:nvPr/>
        </p:nvSpPr>
        <p:spPr>
          <a:xfrm>
            <a:off x="6019800" y="3324225"/>
            <a:ext cx="2333625" cy="85725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 20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5 passages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B4EF53-4CCE-44DA-B568-5A1D759CE3D2}"/>
              </a:ext>
            </a:extLst>
          </p:cNvPr>
          <p:cNvSpPr>
            <a:spLocks noGrp="1"/>
          </p:cNvSpPr>
          <p:nvPr/>
        </p:nvSpPr>
        <p:spPr>
          <a:xfrm>
            <a:off x="8924925" y="3324225"/>
            <a:ext cx="2657475" cy="857250"/>
          </a:xfrm>
          <a:prstGeom prst="rect">
            <a:avLst/>
          </a:prstGeom>
          <a:solidFill>
            <a:srgbClr val="24774F"/>
          </a:solidFill>
          <a:ln w="9525">
            <a:solidFill>
              <a:srgbClr val="24774F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Local Qwen 4B</a:t>
            </a:r>
          </a:p>
          <a:p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Cited answer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D24DA1-82DE-4FFE-866D-4D6B5B1EC2D1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2228850" cy="76200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recipes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Java 26.3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AC50F2-F5CA-4725-ABC8-B8B0DA6B2536}"/>
              </a:ext>
            </a:extLst>
          </p:cNvPr>
          <p:cNvSpPr>
            <a:spLocks noGrp="1"/>
          </p:cNvSpPr>
          <p:nvPr/>
        </p:nvSpPr>
        <p:spPr>
          <a:xfrm>
            <a:off x="3333750" y="4953000"/>
            <a:ext cx="3286125" cy="762000"/>
          </a:xfrm>
          <a:prstGeom prst="rect">
            <a:avLst/>
          </a:prstGeom>
          <a:solidFill>
            <a:srgbClr val="24774F"/>
          </a:solidFill>
          <a:ln w="9525">
            <a:solidFill>
              <a:srgbClr val="24774F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Validate + calculate</a:t>
            </a:r>
          </a:p>
          <a:p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Direct ingredients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42466E-AA69-4E97-9DCB-B57A85D08CD2}"/>
              </a:ext>
            </a:extLst>
          </p:cNvPr>
          <p:cNvSpPr>
            <a:spLocks noGrp="1"/>
          </p:cNvSpPr>
          <p:nvPr/>
        </p:nvSpPr>
        <p:spPr>
          <a:xfrm>
            <a:off x="7229475" y="4953000"/>
            <a:ext cx="4352925" cy="762000"/>
          </a:xfrm>
          <a:prstGeom prst="rect">
            <a:avLst/>
          </a:prstGeom>
          <a:solidFill>
            <a:srgbClr val="EFF5F1"/>
          </a:solidFill>
          <a:ln w="9525">
            <a:solidFill>
              <a:srgbClr val="B1C8B8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Craft tool interface</a:t>
            </a:r>
          </a:p>
          <a:p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Quantity + trace or clarification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B7669F-69BB-4E00-AE0F-2E148D958972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6858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Clear recipes bypass generation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F297000-78EC-4F95-B4AD-78CA5CB5343A}"/>
              </a:ext>
            </a:extLst>
          </p:cNvPr>
          <p:cNvSpPr>
            <a:spLocks noGrp="1"/>
          </p:cNvSpPr>
          <p:nvPr/>
        </p:nvSpPr>
        <p:spPr>
          <a:xfrm>
            <a:off x="7229475" y="44196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Agentic tool loop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FD9D42-D7D3-492E-9F79-8BFB9764E79F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1000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Embedding and reranking run on CPU. Generation uses local Ollama.</a:t>
            </a:r>
          </a:p>
        </p:txBody>
      </p:sp>
    </p:spTree>
    <p:extLst>
      <p:ext uri="{BB962C8B-B14F-4D97-AF65-F5344CB8AC3E}">
        <p14:creationId xmlns:p14="http://schemas.microsoft.com/office/powerpoint/2010/main" val="1000326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38B7E8-BF3C-4487-8675-B3A1061418F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Corpus and chunking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3D9652-173E-4D7F-9EC4-39BA745F3811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9AEC19-05EA-4DC2-B658-1674B3934A20}"/>
              </a:ext>
            </a:extLst>
          </p:cNvPr>
          <p:cNvSpPr>
            <a:spLocks noGrp="1"/>
          </p:cNvSpPr>
          <p:nvPr/>
        </p:nvSpPr>
        <p:spPr>
          <a:xfrm>
            <a:off x="609600" y="1704975"/>
            <a:ext cx="4572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72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72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312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7CCF57-77A9-401D-9B61-60BD7A76D98C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953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4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distinct real Wiki pages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890E48-B8B4-4370-A990-99619DE5D741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4857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About 817,000 words</a:t>
            </a:r>
          </a:p>
          <a:p>
            <a:pPr algn="l">
              <a:buNone/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Exact page revisions retained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D6B94-EF34-4B54-9DF6-98A84A19CEA0}"/>
              </a:ext>
            </a:extLst>
          </p:cNvPr>
          <p:cNvSpPr>
            <a:spLocks noGrp="1"/>
          </p:cNvSpPr>
          <p:nvPr/>
        </p:nvSpPr>
        <p:spPr>
          <a:xfrm>
            <a:off x="6381750" y="1828800"/>
            <a:ext cx="52006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256-token chunks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C26D6-DD60-450F-9B4B-9D6E5460FC2F}"/>
              </a:ext>
            </a:extLst>
          </p:cNvPr>
          <p:cNvSpPr>
            <a:spLocks noGrp="1"/>
          </p:cNvSpPr>
          <p:nvPr/>
        </p:nvSpPr>
        <p:spPr>
          <a:xfrm>
            <a:off x="6381750" y="2705100"/>
            <a:ext cx="520065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section and paragraph boundaries.</a:t>
            </a:r>
          </a:p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Split oversized paragraphs.</a:t>
            </a:r>
          </a:p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No overlap.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77A0B-23C2-424C-B0FA-B7B4B31FC3DD}"/>
              </a:ext>
            </a:extLst>
          </p:cNvPr>
          <p:cNvSpPr>
            <a:spLocks noGrp="1"/>
          </p:cNvSpPr>
          <p:nvPr/>
        </p:nvSpPr>
        <p:spPr>
          <a:xfrm>
            <a:off x="6381750" y="4524375"/>
            <a:ext cx="52006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Compared 128, 256 and 512 tokens.</a:t>
            </a:r>
          </a:p>
          <a:p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Historical reranker page hits</a:t>
            </a:r>
          </a:p>
          <a:p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were similar: 74.1% to 74.5%.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23CF94-8D33-4172-B56A-82F6D09581E5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0763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The synthetic Q&amp;A pool chooses page titles and supports older diagnostics. It is not the retrieval corpus.</a:t>
            </a:r>
          </a:p>
        </p:txBody>
      </p:sp>
    </p:spTree>
    <p:extLst>
      <p:ext uri="{BB962C8B-B14F-4D97-AF65-F5344CB8AC3E}">
        <p14:creationId xmlns:p14="http://schemas.microsoft.com/office/powerpoint/2010/main" val="368149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876B70-C85E-4CD6-8DA0-EABCB659795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Small models keep the system local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B47116-AB17-443B-A53A-BE787ECBDBAA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1A7916-3E91-4642-B4DA-C69FA60DDEA4}"/>
              </a:ext>
            </a:extLst>
          </p:cNvPr>
          <p:cNvGraphicFramePr/>
          <p:nvPr/>
        </p:nvGraphicFramePr>
        <p:xfrm>
          <a:off x="609600" y="1647825"/>
          <a:ext cx="10972800" cy="3571875"/>
        </p:xfrm>
        <a:graphic>
          <a:graphicData uri="http://schemas.openxmlformats.org/drawingml/2006/table">
            <a:tbl>
              <a:tblPr/>
              <a:tblGrid>
                <a:gridCol w="257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Role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Choice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Purpose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embeddings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BGE-small-en-v1.5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384-dim semantic vectors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search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BM25 + dense, RRF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Match names and meaning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reranking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MS MARCO MiniLM-L6-v2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Joint passage scoring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Local generation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Qwen3 4B Instruct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Citations and tool calls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474722E-B97E-4D3E-B9C1-4E4CEE5D35E6}"/>
              </a:ext>
            </a:extLst>
          </p:cNvPr>
          <p:cNvSpPr>
            <a:spLocks noGrp="1"/>
          </p:cNvSpPr>
          <p:nvPr/>
        </p:nvSpPr>
        <p:spPr>
          <a:xfrm>
            <a:off x="609600" y="5495925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Retrieve 50 per branch. Fuse ranks. Rerank 20. Answer from the top 5.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350DAA-BC7D-4C6D-926E-C8D983133EBA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Live demo next: recipe quantity, cited gameplay answer, edition boundary.</a:t>
            </a:r>
          </a:p>
        </p:txBody>
      </p:sp>
    </p:spTree>
    <p:extLst>
      <p:ext uri="{BB962C8B-B14F-4D97-AF65-F5344CB8AC3E}">
        <p14:creationId xmlns:p14="http://schemas.microsoft.com/office/powerpoint/2010/main" val="351221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71BEE17-0FE8-41DF-AF7D-FC41F4909A7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Retrieved evidence improves factual answers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5E4940-5211-4234-8AB6-0E4997172DF2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06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1954367-D9AE-4D1E-909A-0934E858935A}"/>
              </a:ext>
            </a:extLst>
          </p:cNvPr>
          <p:cNvGraphicFramePr/>
          <p:nvPr/>
        </p:nvGraphicFramePr>
        <p:xfrm>
          <a:off x="609600" y="1885950"/>
          <a:ext cx="10972800" cy="26670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Variant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Judged correct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Quote in top 5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 retrieval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Not applicable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27/34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31/34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26/34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30/34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35967BF-92CC-4C67-BCE3-FB75E9B5C258}"/>
              </a:ext>
            </a:extLst>
          </p:cNvPr>
          <p:cNvSpPr>
            <a:spLocks noGrp="1"/>
          </p:cNvSpPr>
          <p:nvPr/>
        </p:nvSpPr>
        <p:spPr>
          <a:xfrm>
            <a:off x="609600" y="4962525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Evidence gives the model facts it could otherwise guess.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3F7051-7C69-4C55-B738-047E3309FA38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Reranking did not establish a gain over dense retrieval.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819D26-FAC0-488D-A21C-2A1CC83D3D09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v1 test: 34 facts + 6 negatives. Automatic same-model judge. Historical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905468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799B8D-CE5C-4ACE-BEF5-A654E147F2F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recipe tool improves quantity answers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65DD18-30DE-4BBB-BDCC-4590C73E046B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07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87CE901-E860-4018-B396-1B789361D48E}"/>
              </a:ext>
            </a:extLst>
          </p:cNvPr>
          <p:cNvGraphicFramePr/>
          <p:nvPr/>
        </p:nvGraphicFramePr>
        <p:xfrm>
          <a:off x="609600" y="1962150"/>
          <a:ext cx="10972800" cy="21717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Same 40 questions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Exact quantity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Correct (%)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Without recipe tool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1/40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2.5%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 recipe tool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37/40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92.5%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AA2E0609-BDB2-426D-9BBB-681B411461E8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Official recipe slots determine ingredient consumption.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2A45EC-DD7F-45DC-A190-013E9029E604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All 3 misses made no tool call, so routing is the weak point.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B14E6-512E-4216-91EE-EB2280F0F95D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v2 test. Direct ingredients only, without inventory reuse or recursive material planning.</a:t>
            </a:r>
          </a:p>
        </p:txBody>
      </p:sp>
    </p:spTree>
    <p:extLst>
      <p:ext uri="{BB962C8B-B14F-4D97-AF65-F5344CB8AC3E}">
        <p14:creationId xmlns:p14="http://schemas.microsoft.com/office/powerpoint/2010/main" val="1805064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3C6403-4F88-44FC-BFEC-0DB289ECE39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lang="en-US"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Both metrics favour retrieval</a:t>
            </a:r>
            <a:endParaRPr sz="3300" b="1">
              <a:solidFill>
                <a:srgbClr val="142B2A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FDCD59-FC29-4838-8B47-A73798D368F7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08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87EB39E-DD39-45ED-BAA2-4584924318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6104487"/>
              </p:ext>
            </p:extLst>
          </p:nvPr>
        </p:nvGraphicFramePr>
        <p:xfrm>
          <a:off x="609600" y="1714500"/>
          <a:ext cx="10972800" cy="21717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lang="en-US"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Variant</a:t>
                      </a:r>
                      <a:endParaRPr sz="2325" b="1">
                        <a:solidFill>
                          <a:srgbClr val="FFFFFF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LLM judge correct</a:t>
                      </a:r>
                      <a:endParaRPr sz="2325" b="1">
                        <a:solidFill>
                          <a:srgbClr val="FFFFFF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BERTScore F1</a:t>
                      </a:r>
                      <a:endParaRPr sz="2325" b="1">
                        <a:solidFill>
                          <a:srgbClr val="FFFFFF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 retrieval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9/34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0.294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04120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27/34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0.493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26/34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0.451</a:t>
                      </a:r>
                      <a:endParaRPr sz="2325">
                        <a:solidFill>
                          <a:srgbClr val="142B2A"/>
                        </a:solidFill>
                        <a:latin typeface="Tahoma"/>
                        <a:ea typeface="Tahoma"/>
                        <a:cs typeface="Tahoma"/>
                      </a:endParaRP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4D74EE3-0704-4193-BE89-02B551C7201A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Correctness checks facts. BERTScore checks similarity.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8551E-AA4A-4F75-AC38-27BB3F3F3695}"/>
              </a:ext>
            </a:extLst>
          </p:cNvPr>
          <p:cNvSpPr>
            <a:spLocks noGrp="1"/>
          </p:cNvSpPr>
          <p:nvPr/>
        </p:nvSpPr>
        <p:spPr>
          <a:xfrm>
            <a:off x="609600" y="532447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Both compare with pinned references. Neither is human validation.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48D7B-7468-4129-97A8-D4400DAAD8CD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382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lang="en-US"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Same 34 test facts as slide 6. Same-model judge; reranking showed no gain over dense.</a:t>
            </a:r>
            <a:endParaRPr sz="1650" b="0">
              <a:solidFill>
                <a:srgbClr val="536563"/>
              </a:solidFill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70249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F42315-23BC-421E-86D6-02BBA903F39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Correct numbers can still hide wrong claims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BB95E4-682F-4833-A273-D119CE7D5646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09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DB226A-8567-48A0-8986-827EA4B9AF6D}"/>
              </a:ext>
            </a:extLst>
          </p:cNvPr>
          <p:cNvGraphicFramePr/>
          <p:nvPr/>
        </p:nvGraphicFramePr>
        <p:xfrm>
          <a:off x="609600" y="1743075"/>
          <a:ext cx="10972800" cy="3228975"/>
        </p:xfrm>
        <a:graphic>
          <a:graphicData uri="http://schemas.openxmlformats.org/drawingml/2006/table">
            <a:tbl>
              <a:tblPr/>
              <a:tblGrid>
                <a:gridCol w="521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5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724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Observed failure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Why it happens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Useful Java evidence removed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Historical and edition rules share paragraphs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Right ingredient, wrong explanation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The model adds claims beyond the tool result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Judge verdict can be wrong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Generator and judge use the same local model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15E45300-BED3-4A98-BA2C-D50880B9F077}"/>
              </a:ext>
            </a:extLst>
          </p:cNvPr>
          <p:cNvSpPr>
            <a:spLocks noGrp="1"/>
          </p:cNvSpPr>
          <p:nvPr/>
        </p:nvSpPr>
        <p:spPr>
          <a:xfrm>
            <a:off x="609600" y="535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Keep raw answers, citations and tool traces for review.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6912CD-4184-4AE8-854D-D24AA242B14A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Next: improve mixed-section handling and independently review labels on a fresh test set.</a:t>
            </a:r>
          </a:p>
        </p:txBody>
      </p:sp>
    </p:spTree>
    <p:extLst>
      <p:ext uri="{BB962C8B-B14F-4D97-AF65-F5344CB8AC3E}">
        <p14:creationId xmlns:p14="http://schemas.microsoft.com/office/powerpoint/2010/main" val="186574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5749FE3-850B-4FF2-A742-C90BE7CA38D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AI audit: three decisions and one caught error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BC83E2-0AC9-4171-A866-F493E0D62C55}"/>
              </a:ext>
            </a:extLst>
          </p:cNvPr>
          <p:cNvSpPr>
            <a:spLocks noGrp="1"/>
          </p:cNvSpPr>
          <p:nvPr/>
        </p:nvSpPr>
        <p:spPr>
          <a:xfrm>
            <a:off x="11106150" y="62960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A7C948-BB94-44AA-90E5-3E896F631C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685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Three AI-owned decisions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646553-7A8A-417B-BFE9-3A320EDAE4B9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256-token section chunks: balance context and cost.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539958-689E-4124-BAD4-5A9ECEA9E239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embeddings: compact English retrieval.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DED348-36FD-42EA-9FB0-83DFED43D686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 calculation: exact quantities, with a tool loop.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A0A79B-389E-4257-A1B1-8FA6126FB4BA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One actual error catch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19538D-749E-4D9B-ACB5-A4A0E20A1C62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9728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old scorer credited a refusal that repeated a number.</a:t>
            </a:r>
          </a:p>
          <a:p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Fix: check the requested ingredient and reject refusals.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FE97-3F23-4DE4-8197-FFFA85DDE4D1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57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Claude Code and Codex built and checked the system.</a:t>
            </a:r>
          </a:p>
        </p:txBody>
      </p:sp>
    </p:spTree>
    <p:extLst>
      <p:ext uri="{BB962C8B-B14F-4D97-AF65-F5344CB8AC3E}">
        <p14:creationId xmlns:p14="http://schemas.microsoft.com/office/powerpoint/2010/main" val="44833887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1789</Words>
  <Application>Microsoft Office PowerPoint</Application>
  <DocSecurity>0</DocSecurity>
  <PresentationFormat>Widescreen</PresentationFormat>
  <Paragraphs>228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Tahoma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Natdanai Phurintanachot</cp:lastModifiedBy>
  <cp:revision>3</cp:revision>
  <dcterms:created xsi:type="dcterms:W3CDTF">2026-10-08T08:08:10Z</dcterms:created>
  <dcterms:modified xsi:type="dcterms:W3CDTF">2026-10-23T09:53:28Z</dcterms:modified>
</cp:coreProperties>
</file>