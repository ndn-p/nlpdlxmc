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4811da9101464a" /><Relationship Type="http://schemas.openxmlformats.org/officeDocument/2006/relationships/extended-properties" Target="/docProps/app.xml" Id="R62d55acea59645c7" /><Relationship Type="http://schemas.openxmlformats.org/officeDocument/2006/relationships/officeDocument" Target="/ppt/presentation.xml" Id="Rb113ed598c854e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b2f4b639041e4"/>
  </p:sldMasterIdLst>
  <p:notesMasterIdLst>
    <p:notesMasterId xmlns:r="http://schemas.openxmlformats.org/officeDocument/2006/relationships" r:id="R64f24ec0b94d4571"/>
  </p:notesMasterIdLst>
  <p:sldIdLst>
    <p:sldId xmlns:r="http://schemas.openxmlformats.org/officeDocument/2006/relationships" id="256" r:id="Rfe83c29357aa4b9d"/>
    <p:sldId xmlns:r="http://schemas.openxmlformats.org/officeDocument/2006/relationships" id="257" r:id="R18373deac7274be0"/>
    <p:sldId xmlns:r="http://schemas.openxmlformats.org/officeDocument/2006/relationships" id="258" r:id="R8333a68fb0344e46"/>
    <p:sldId xmlns:r="http://schemas.openxmlformats.org/officeDocument/2006/relationships" id="259" r:id="R565255f52e914b81"/>
    <p:sldId xmlns:r="http://schemas.openxmlformats.org/officeDocument/2006/relationships" id="260" r:id="Rb5cf93e36d9147c6"/>
    <p:sldId xmlns:r="http://schemas.openxmlformats.org/officeDocument/2006/relationships" id="261" r:id="R95b7afb8cfdc47f3"/>
    <p:sldId xmlns:r="http://schemas.openxmlformats.org/officeDocument/2006/relationships" id="262" r:id="Rdfc8013daafd455c"/>
    <p:sldId xmlns:r="http://schemas.openxmlformats.org/officeDocument/2006/relationships" id="263" r:id="R9352036c52514de9"/>
    <p:sldId xmlns:r="http://schemas.openxmlformats.org/officeDocument/2006/relationships" id="264" r:id="R4944e7699a684895"/>
    <p:sldId xmlns:r="http://schemas.openxmlformats.org/officeDocument/2006/relationships" id="265" r:id="Rd82e17622c4b44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424ec1937e4f04" /><Relationship Type="http://schemas.openxmlformats.org/officeDocument/2006/relationships/slideMaster" Target="/ppt/slideMasters/slideMaster1.xml" Id="R190b2f4b639041e4" /><Relationship Type="http://schemas.openxmlformats.org/officeDocument/2006/relationships/notesMaster" Target="/ppt/notesMasters/notesMaster1.xml" Id="R64f24ec0b94d4571" /><Relationship Type="http://schemas.openxmlformats.org/officeDocument/2006/relationships/presProps" Target="/ppt/presProps.xml" Id="R7ccbca5b77e6455d" /><Relationship Type="http://schemas.openxmlformats.org/officeDocument/2006/relationships/tableStyles" Target="/ppt/tableStyles.xml" Id="R2a733f4f460d4f8b" /><Relationship Type="http://schemas.openxmlformats.org/officeDocument/2006/relationships/slide" Target="/ppt/slides/slide1.xml" Id="Rfe83c29357aa4b9d" /><Relationship Type="http://schemas.openxmlformats.org/officeDocument/2006/relationships/slide" Target="/ppt/slides/slide2.xml" Id="R18373deac7274be0" /><Relationship Type="http://schemas.openxmlformats.org/officeDocument/2006/relationships/slide" Target="/ppt/slides/slide3.xml" Id="R8333a68fb0344e46" /><Relationship Type="http://schemas.openxmlformats.org/officeDocument/2006/relationships/slide" Target="/ppt/slides/slide4.xml" Id="R565255f52e914b81" /><Relationship Type="http://schemas.openxmlformats.org/officeDocument/2006/relationships/slide" Target="/ppt/slides/slide5.xml" Id="Rb5cf93e36d9147c6" /><Relationship Type="http://schemas.openxmlformats.org/officeDocument/2006/relationships/slide" Target="/ppt/slides/slide6.xml" Id="R95b7afb8cfdc47f3" /><Relationship Type="http://schemas.openxmlformats.org/officeDocument/2006/relationships/slide" Target="/ppt/slides/slide7.xml" Id="Rdfc8013daafd455c" /><Relationship Type="http://schemas.openxmlformats.org/officeDocument/2006/relationships/slide" Target="/ppt/slides/slide8.xml" Id="R9352036c52514de9" /><Relationship Type="http://schemas.openxmlformats.org/officeDocument/2006/relationships/slide" Target="/ppt/slides/slide9.xml" Id="R4944e7699a684895" /><Relationship Type="http://schemas.openxmlformats.org/officeDocument/2006/relationships/slide" Target="/ppt/slides/slide10.xml" Id="Rd82e17622c4b44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60e71502eb43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30074254044e0" /><Relationship Type="http://schemas.openxmlformats.org/officeDocument/2006/relationships/notesMaster" Target="/ppt/notesMasters/notesMaster1.xml" Id="R56c198ecee5346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66a52ee2e94ad1" /><Relationship Type="http://schemas.openxmlformats.org/officeDocument/2006/relationships/notesMaster" Target="/ppt/notesMasters/notesMaster1.xml" Id="R9704422c492f4a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7d4020c6aa472a" /><Relationship Type="http://schemas.openxmlformats.org/officeDocument/2006/relationships/notesMaster" Target="/ppt/notesMasters/notesMaster1.xml" Id="R78317194867545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9b04ac95404de9" /><Relationship Type="http://schemas.openxmlformats.org/officeDocument/2006/relationships/notesMaster" Target="/ppt/notesMasters/notesMaster1.xml" Id="R63b82becd3294c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2026249ca44b29" /><Relationship Type="http://schemas.openxmlformats.org/officeDocument/2006/relationships/notesMaster" Target="/ppt/notesMasters/notesMaster1.xml" Id="R0a6c1a92c65b4d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93ea738b624ec3" /><Relationship Type="http://schemas.openxmlformats.org/officeDocument/2006/relationships/notesMaster" Target="/ppt/notesMasters/notesMaster1.xml" Id="R7bf9599852fa47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9ce2c3f9d548eb" /><Relationship Type="http://schemas.openxmlformats.org/officeDocument/2006/relationships/notesMaster" Target="/ppt/notesMasters/notesMaster1.xml" Id="Rced93abb194e49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9b7d8774414f98" /><Relationship Type="http://schemas.openxmlformats.org/officeDocument/2006/relationships/notesMaster" Target="/ppt/notesMasters/notesMaster1.xml" Id="R13d0f809ba634f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fd146bd13b4e7b" /><Relationship Type="http://schemas.openxmlformats.org/officeDocument/2006/relationships/notesMaster" Target="/ppt/notesMasters/notesMaster1.xml" Id="Rc816090182e743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ace7768c1149ed" /><Relationship Type="http://schemas.openxmlformats.org/officeDocument/2006/relationships/notesMaster" Target="/ppt/notesMasters/notesMaster1.xml" Id="R807bd651239541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โปรเจกต์ของเราชื่อ MCQA เป็นผู้ช่วยตอบคำถาม Minecraft Java ที่ทำงานบนเครื่องทั้งหมดครับ คำถามเกี่ยวกับเกมจะค้นเอกสารและแสดงแหล่งอ้างอิง ส่วนจำนวนวัตถุดิบจะคำนวณจากสูตรทางการ เป้าหมายคือให้ผู้เล่นตรวจสอบคำตอบได้ และลดการเดาตัวเลขของโมเดลครับ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docs/sources.md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AI_AUDIT.md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ปัญหามีทั้งคำตอบในวิกิที่ปนหลายเวอร์ชัน และการคำนวณจำนวนวัตถุดิบครับ เช่น ถ้าต้องการ Hopper สามชิ้น ผู้เล่นต้องรู้จำนวน Iron Ingots ที่ต้องใช้ เราจึงแยกวิธีตอบ คำถามข้อเท็จจริงใช้หลักฐาน ส่วนตัวเลขใช้เครื่องมือคำนวณ และตั้งขอบเขตเป็น Java Edition ระบบนี้ใช้งานโดยไม่เสียค่า API หลังจากเตรียมโมเดลไว้ในเครื่องครับ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docs/sources.md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docs/failure_analysis.md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แถวบนคือการเตรียมข้อมูลครับ เราเก็บวิกิพร้อม revision แบ่งข้อความตาม section แล้วสร้าง dense index บน CPU พร้อม BM25 เวลารับคำถาม ระบบตรวจขอบเขตก่อน ถ้าเป็นสูตรและจำนวนที่อ่านได้ชัดเจน จะส่งไปคำนวณตรงทันที คำถามอื่นจะค้นเอกสาร รวมอันดับด้วย RRF และเรียงใหม่ก่อนส่งให้ Qwen ตอบพร้อม citation ถ้าเป็นคำถามซับซ้อน โมเดลยังสามารถเรียกเครื่องมือสูตรได้ผ่าน tool loop 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mcqa.py: chunks, Retriever, crafting_intent, answer, _agent_answer</a:t>
            </a:r>
          </a:p>
          <a:p xmlns:a="http://schemas.openxmlformats.org/drawingml/2006/main">
            <a:r>
              <a:t>docs/sources.md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2:00–2:45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ข้อมูลค้นคืนเป็นบทความจริงจาก Minecraft Wiki ไม่ใช่ชุดถามตอบสังเคราะห์ครับ มี 312 หน้าที่ไม่ซ้ำกันและประมาณแปดแสนหนึ่งหมื่นเจ็ดพันคำ เราเก็บ revision ของแต่ละหน้าไว้ เราเปรียบเทียบ chunk ขนาด 128, 256 และ 512 โทเคน ผล source-page hit เดิมใกล้กัน จึงใช้ 256 เพื่อรักษาบริบทโดยไม่เพิ่มต้นทุนมาก แบ่งตาม section และ paragraph ก่อน ถ้ายาวเกินจึงแบ่งย่อย ไม่มี overlap ข้อจำกัดคือ corpus ยังมีข้อมูลเก่า และ 312 หน้าไม่ได้ครอบคลุมทุกเรื่องในเกมครับ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docs/sources.md</a:t>
            </a:r>
          </a:p>
          <a:p xmlns:a="http://schemas.openxmlformats.org/drawingml/2006/main">
            <a:r>
              <a:t>docs/corpus_inventory.csv</a:t>
            </a:r>
          </a:p>
          <a:p xmlns:a="http://schemas.openxmlformats.org/drawingml/2006/main">
            <a:r>
              <a:t>results/RESULTS.md</a:t>
            </a:r>
          </a:p>
          <a:p xmlns:a="http://schemas.openxmlformats.org/drawingml/2006/main">
            <a:r>
              <a:t>mcqa.py: chunks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2:45–4:00; then switch to the live demo until 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เราใช้ BGE-small ทำ embedding บน CPU ครับ BM25 ช่วยเรื่องชื่อ item ที่ตรงคำ ส่วน dense retrieval ช่วยจับความหมาย RRF รวมอันดับโดยไม่ต้องทำให้คะแนนสองระบบอยู่ในสเกลเดียวกัน จากนั้น cross-encoder จะอ่านคำถามกับ passage คู่กันแล้วเลือกห้าอันดับแรก ส่วน Qwen 4B ทำหน้าที่ตอบและวางแผนเรียกเครื่องมือ โมเดลทั้งหมดมีอยู่ในเครื่อง แต่เราไม่สรุปว่าการเพิ่ม reranker จะทำให้ดีกว่าเสมอ ต้องดูผล ablation ต่อไปครับ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docs/sources.md</a:t>
            </a:r>
          </a:p>
          <a:p xmlns:a="http://schemas.openxmlformats.org/drawingml/2006/main">
            <a:r>
              <a:t>mcqa.py: embedder, reranker, Retriever, chat</a:t>
            </a:r>
          </a:p>
          <a:p xmlns:a="http://schemas.openxmlformats.org/drawingml/2006/main">
            <a:r>
              <a:t>results/verified/test/summary.json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7:00–7:35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เริ่มจากผลทดลองชุดแรก ซึ่งมีคำถามข้อเท็จจริง 34 ข้อครับ ถ้าให้โมเดลตอบโดยไม่ค้นเอกสาร จะตอบถูก 9 ข้อ เมื่อใช้ dense retrieval เพิ่มเป็น 27 ข้อ ส่วน hybrid ที่มี reranker ได้ 26 ข้อ ผลนี้สนับสนุนว่าการค้นเอกสารช่วยได้ แต่ยังไม่เห็นข้อได้เปรียบชัดเจนของ reranker คะแนนเหล่านี้มาจากการทดลองรุ่นเดิมที่เก็บไว้ และใช้โมเดลเป็นผู้ประเมินครับ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results/verified/test/summary.json</a:t>
            </a:r>
          </a:p>
          <a:p xmlns:a="http://schemas.openxmlformats.org/drawingml/2006/main">
            <a:r>
              <a:t>results/verified/test/RESULTS.md</a:t>
            </a:r>
          </a:p>
          <a:p xmlns:a="http://schemas.openxmlformats.org/drawingml/2006/main">
            <a:r>
              <a:t>results/verified/test/config.json</a:t>
            </a:r>
          </a:p>
          <a:p xmlns:a="http://schemas.openxmlformats.org/drawingml/2006/main">
            <a:r>
              <a:t>data/java_benchmark.jsonl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7:35–8:10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สำหรับการคำนวณวัตถุดิบ เราเปรียบเทียบคำถาม 40 ข้อ โดยเปิดและปิดเครื่องมือ เมื่อไม่มีเครื่องมือ ตอบจำนวนถูกเพียง 1 ข้อ แต่เมื่อใช้เครื่องมือ ถูก 37 ข้อ เครื่องมืออ่านสูตรทางการแล้วคำนวณจำนวนรอบการคราฟต์ให้ ส่วนสามข้อที่ผิดไม่ได้เรียกเครื่องมือเลย จุดที่ยังติดจึงเป็นการส่งคำถามไปใช้เครื่องมือ ผลนี้วัดจำนวนวัตถุดิบโดยตรง ยังไม่ครอบคลุมการวางแผนจากของทั้งหมดในคลังครับ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results/verified/tool_final/summary.json</a:t>
            </a:r>
          </a:p>
          <a:p xmlns:a="http://schemas.openxmlformats.org/drawingml/2006/main">
            <a:r>
              <a:t>results/verified/tool_final/RESULTS.md</a:t>
            </a:r>
          </a:p>
          <a:p xmlns:a="http://schemas.openxmlformats.org/drawingml/2006/main">
            <a:r>
              <a:t>results/verified/tool_final/answers.jsonl</a:t>
            </a:r>
          </a:p>
          <a:p xmlns:a="http://schemas.openxmlformats.org/drawingml/2006/main">
            <a:r>
              <a:t>docs/sources.md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8:10–8:45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ผลของระบบปัจจุบันใช้ชุดทดสอบใหม่ที่มีข้อเท็จจริง 8 ข้อครับ Dense ตอบถูก 6 ข้อ และได้ BERTScore จุดหกห้าสี่ ส่วน reranker ถูก 7 ข้อ แต่ได้ BERTScore จุดหกศูนย์ศูนย์ คะแนนสองแบบวัดคนละเรื่อง การตัดสินความถูกต้องเทียบกับข้อมูลอ้างอิง ส่วน BERTScore วัดความคล้ายของข้อความ จึงอาจให้ลำดับต่างกันได้ ชุดนี้ยังเล็ก และยังไม่มีการตรวจโดยคนอย่างอิสระครับ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results/improvement_review/summary.json</a:t>
            </a:r>
          </a:p>
          <a:p xmlns:a="http://schemas.openxmlformats.org/drawingml/2006/main">
            <a:r>
              <a:t>results/improvement_review/RESULTS.md</a:t>
            </a:r>
          </a:p>
          <a:p xmlns:a="http://schemas.openxmlformats.org/drawingml/2006/main">
            <a:r>
              <a:t>results/improvement_review/after_config.json</a:t>
            </a:r>
          </a:p>
          <a:p xmlns:a="http://schemas.openxmlformats.org/drawingml/2006/main">
            <a:r>
              <a:t>results/improvement_review/paired_stats.json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8:45–9:20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ระบบยังมีข้อจำกัดสามเรื่องครับ หนึ่ง การกรองข้อความของเวอร์ชันอื่นอาจตัดข้อมูล Java ที่ใช้ได้ออกไปด้วย สอง คำถามหลายส่วนอาจได้ตัวเลขจากเครื่องมือถูก แต่คำอธิบายที่โมเดลเติมยังไม่มีหลักฐานรองรับ และสาม เราใช้โมเดลเดียวกันตอบและประเมิน จึงมีโอกาสประเมินผิดหรือเข้าข้างคำตอบของตัวเอง เราเก็บคำตอบดิบและแหล่งอ้างอิงไว้ เพื่อให้ย้อนตรวจข้อผิดพลาดเหล่านี้ได้ครับ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results/improvement_review/analysis_notes.md</a:t>
            </a:r>
          </a:p>
          <a:p xmlns:a="http://schemas.openxmlformats.org/drawingml/2006/main">
            <a:r>
              <a:t>docs/failure_analysis.md</a:t>
            </a:r>
          </a:p>
          <a:p xmlns:a="http://schemas.openxmlformats.org/drawingml/2006/main">
            <a:r>
              <a:t>results/improvement_review/after_answers.jsonl</a:t>
            </a:r>
          </a:p>
          <a:p xmlns:a="http://schemas.openxmlformats.org/drawingml/2006/main">
            <a:r>
              <a:t>results/improvement_review/human_check.csv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9:20–10:00; then individual Q&amp;A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ใน AI Audit เราระบุอย่างตรงไปตรงมาว่า AI เป็นผู้เลือกสามแนวทางนี้ ได้แก่ chunk ขนาด 256 โทเคน โมเดล BGE ที่ทำงานบน CPU และการคำนวณสูตรทางการแบบตรง โดยเก็บ tool loop สำหรับคำถามที่ซับซ้อน ตัวอย่างข้อผิดพลาดที่พบคือ ตัวให้คะแนนเดิมหยิบเลขตัวแรกจากคำตอบ แม้คำตอบนั้นจะปฏิเสธและแค่ทวนจำนวนในคำถาม จึงถูกแก้ให้ตรวจจำนวนวัตถุดิบที่ถาม และไม่ให้คะแนนคำปฏิเสธครับ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(project-relative paths):</a:t>
            </a:r>
          </a:p>
          <a:p xmlns:a="http://schemas.openxmlformats.org/drawingml/2006/main">
            <a:r>
              <a:t>AI_AUDIT.md: Decision Journal and Error Catch Log</a:t>
            </a:r>
          </a:p>
          <a:p xmlns:a="http://schemas.openxmlformats.org/drawingml/2006/main">
            <a:r>
              <a:t>docs/codex_prompt_history.md</a:t>
            </a:r>
          </a:p>
          <a:p xmlns:a="http://schemas.openxmlformats.org/drawingml/2006/main">
            <a:r>
              <a:t>codextodo.md</a:t>
            </a:r>
          </a:p>
          <a:p xmlns:a="http://schemas.openxmlformats.org/drawingml/2006/main">
            <a:r>
              <a:t>docs/codex_review.md</a:t>
            </a:r>
          </a:p>
          <a:p xmlns:a="http://schemas.openxmlformats.org/drawingml/2006/main">
            <a:r>
              <a:t>test_eval.py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d5562f74046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983a32b8e4109" /><Relationship Type="http://schemas.openxmlformats.org/officeDocument/2006/relationships/slideLayout" Target="/ppt/slideLayouts/slideLayout1.xml" Id="R252b6bb054d347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2b6bb054d347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bdaa561074d0b" /><Relationship Type="http://schemas.openxmlformats.org/officeDocument/2006/relationships/notesSlide" Target="/ppt/notesSlides/notesSlide1.xml" Id="Re3534d2a66744a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7867c29aa4424" /><Relationship Type="http://schemas.openxmlformats.org/officeDocument/2006/relationships/notesSlide" Target="/ppt/notesSlides/notesSlide2.xml" Id="R7ed704d6d0f742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2617773cc4519" /><Relationship Type="http://schemas.openxmlformats.org/officeDocument/2006/relationships/notesSlide" Target="/ppt/notesSlides/notesSlide3.xml" Id="R094acddcf6eb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c75c86e7f4aa5" /><Relationship Type="http://schemas.openxmlformats.org/officeDocument/2006/relationships/notesSlide" Target="/ppt/notesSlides/notesSlide4.xml" Id="R9b06fff17bf84c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5df4a3e524da4" /><Relationship Type="http://schemas.openxmlformats.org/officeDocument/2006/relationships/notesSlide" Target="/ppt/notesSlides/notesSlide5.xml" Id="Rbdc7b9ae392145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738f1015c426f" /><Relationship Type="http://schemas.openxmlformats.org/officeDocument/2006/relationships/notesSlide" Target="/ppt/notesSlides/notesSlide6.xml" Id="R3b1f68217b8f40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8942737e5422b" /><Relationship Type="http://schemas.openxmlformats.org/officeDocument/2006/relationships/notesSlide" Target="/ppt/notesSlides/notesSlide7.xml" Id="Rbc438d6c9eb04b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157a69d364d13" /><Relationship Type="http://schemas.openxmlformats.org/officeDocument/2006/relationships/notesSlide" Target="/ppt/notesSlides/notesSlide8.xml" Id="R94f01841c6fd45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f093b08d74c36" /><Relationship Type="http://schemas.openxmlformats.org/officeDocument/2006/relationships/notesSlide" Target="/ppt/notesSlides/notesSlide9.xml" Id="R26a816bf64ff4c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e955c7c474bb0" /><Relationship Type="http://schemas.openxmlformats.org/officeDocument/2006/relationships/notesSlide" Target="/ppt/notesSlides/notesSlide10.xml" Id="R26787434d35846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77E83-5F70-4FF4-91DF-5289FCCE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A5BEAD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A5BEAD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CFA94-FA21-4BAC-8D8F-7A9AE5B1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MCQA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9B892-A56F-44B5-ACB9-EC1D7AE2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6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Minecraft answers you can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0BC1D-D3A7-4DF5-91A9-254519CD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CEE2D3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CEE2D3"/>
                </a:solidFill>
                <a:latin typeface="Tahoma"/>
                <a:ea typeface="Tahoma"/>
                <a:cs typeface="Tahoma"/>
              </a:rPr>
              <a:t>Cited Wiki evidence and official recipe calculations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DCBE1-4B91-4CF8-8B9F-7A0C4212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7D0B5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A7D0B5"/>
                </a:solidFill>
                <a:latin typeface="Tahoma"/>
                <a:ea typeface="Tahoma"/>
                <a:cs typeface="Tahoma"/>
              </a:rPr>
              <a:t>Fully local · Minecraft Java 26.3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50A0C-D94E-4EF2-8B92-6763F06F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Natdanai Phurintanachot (67070230)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Nattapong Suphawirojlert (67070051)</a:t>
            </a:r>
          </a:p>
        </p:txBody>
      </p:sp>
    </p:spTree>
    <p:extLst>
      <p:ext uri="{BB962C8B-B14F-4D97-AF65-F5344CB8AC3E}">
        <p14:creationId xmlns:p14="http://schemas.microsoft.com/office/powerpoint/2010/main" val="1408117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7D864-2AFB-4087-8ADC-9A72EF89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42B2A"/>
                </a:solidFill>
                <a:latin typeface="Tahoma"/>
                <a:ea typeface="Tahoma"/>
                <a:cs typeface="Tahoma"/>
              </a:rPr>
              <a:t>Players need facts and exact amounts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7B5C6-D1C6-4636-8F38-D1CF1E9E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6040D-3460-4892-950F-9EDF16DE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90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24774F"/>
                </a:solidFill>
                <a:latin typeface="Tahoma"/>
                <a:ea typeface="Tahoma"/>
                <a:cs typeface="Tahoma"/>
              </a:rPr>
              <a:t>Gameplay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CDE35-640A-47D0-AEF3-55C1B08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Wiki pages mix editions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and historical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92C42-A584-43E2-91D5-2AFEFD58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Retrieve passages and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show revision links.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C6D2C-9CFE-4AE3-AA4F-A4D3B596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24774F"/>
                </a:solidFill>
                <a:latin typeface="Tahoma"/>
                <a:ea typeface="Tahoma"/>
                <a:cs typeface="Tahoma"/>
              </a:rPr>
              <a:t>Crafting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10B65-0280-4380-B912-DDAE3197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4792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"How many iron ingots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for 3 hoppers?"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4F1D7-7135-424B-9FD0-E68C765B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Read an official recipe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and calculate the batches.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6E4EA-D4BE-45FE-AA90-2CB48C36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Scope: direct crafting and supported Java evidence. Other editions need a clear boundary.</a:t>
            </a:r>
          </a:p>
        </p:txBody>
      </p:sp>
    </p:spTree>
    <p:extLst>
      <p:ext uri="{BB962C8B-B14F-4D97-AF65-F5344CB8AC3E}">
        <p14:creationId xmlns:p14="http://schemas.microsoft.com/office/powerpoint/2010/main" val="1388135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42C0DA-62E3-4236-A481-71A52E0626CE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9405938" y="4181475"/>
            <a:ext cx="847725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774F"/>
            </a:solidFill>
            <a:prstDash val="dash"/>
            <a:headEnd type="triangle" w="med" len="me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3657C3-FCEA-4C06-BE5A-79D7114EC13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724025" y="4181475"/>
            <a:ext cx="3252788" cy="7715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774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F0CD15-0903-49F4-85AD-5A674B16617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619875" y="5334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74F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23F7A-C877-4E00-AE68-FF9590C6CFB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838450" y="53340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74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98A58C-7E46-4A5D-84CF-AF6649D7882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4429125" y="2419350"/>
            <a:ext cx="2757488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774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5E7DFE-312F-43DC-984E-3D3C943EE86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353425" y="37528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74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2AE780-3F48-4262-9045-E4DD0C77EB2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24500" y="37528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74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812CF-928B-4E79-B6FE-8DCAC41D761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38450" y="37528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74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59689-5C6B-4D47-AEF8-4D86686022A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20383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74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DBCFF6-2FBB-4508-A18C-FDBB5424519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38450" y="20383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74F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10DBE1-F423-44D7-8B58-ECFF6C7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42B2A"/>
                </a:solidFill>
                <a:latin typeface="Tahoma"/>
                <a:ea typeface="Tahoma"/>
                <a:cs typeface="Tahoma"/>
              </a:rPr>
              <a:t>Two answer paths, one local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22AEE-5AD0-4250-A85A-D21FF11C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01804-400D-4CE4-A2CE-62A07A76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B1C8B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312 Wiki pages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Pinned revisions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B2CB6-4B24-40AE-8E0D-A9E04A86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B1C8B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Clean and chunk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256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1CA2A-7426-4E30-AADA-1577AB53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333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B1C8B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CPU BGE index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and BM25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A98B3-C47C-4268-9E7A-6FBB6424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228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B1C8B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Question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Scope + parser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01CF8-0520-4A77-BD09-44B97F2B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24225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B1C8B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Dense + BM25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RRF merge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CD6E7-C6D7-4D42-9F17-6EE255E8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24225"/>
            <a:ext cx="2333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B1C8B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Rerank 20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Keep 5 passages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4EF53-4CCE-44DA-B568-5A1D759C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24225"/>
            <a:ext cx="26574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4F"/>
          </a:solidFill>
          <a:ln xmlns:a="http://schemas.openxmlformats.org/drawingml/2006/main" w="9525">
            <a:solidFill>
              <a:srgbClr val="24774F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Local Qwen 4B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Cited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24DA1-82DE-4FFE-866D-4D6B5B1E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B1C8B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Official recipes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Java 26.3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C50F2-F5CA-4725-ABC8-B8B0DA6B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3286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74F"/>
          </a:solidFill>
          <a:ln xmlns:a="http://schemas.openxmlformats.org/drawingml/2006/main" w="9525">
            <a:solidFill>
              <a:srgbClr val="24774F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Validate + calculate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Direct ingredients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2466E-AA69-4E97-9DCB-B57A85D0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953000"/>
            <a:ext cx="43529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1"/>
          </a:solidFill>
          <a:ln xmlns:a="http://schemas.openxmlformats.org/drawingml/2006/main" w="9525">
            <a:solidFill>
              <a:srgbClr val="B1C8B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Craft tool interface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Quantity + trace or clarification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7669F-69BB-4E00-AE0F-2E148D95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4774F"/>
                </a:solidFill>
                <a:latin typeface="Tahoma"/>
                <a:ea typeface="Tahoma"/>
                <a:cs typeface="Tahoma"/>
              </a:rPr>
              <a:t>Clear recipes bypass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97000-78EC-4F95-B4AD-78CA5CB5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196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Agentic tool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D9D42-D7D3-492E-9F79-8BFB9764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Embedding and reranking run on CPU. Generation uses local Ollama.</a:t>
            </a:r>
          </a:p>
        </p:txBody>
      </p:sp>
    </p:spTree>
    <p:extLst>
      <p:ext uri="{BB962C8B-B14F-4D97-AF65-F5344CB8AC3E}">
        <p14:creationId xmlns:p14="http://schemas.microsoft.com/office/powerpoint/2010/main" val="1000326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8B7E8-BF3C-4487-8675-B3A10614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42B2A"/>
                </a:solidFill>
                <a:latin typeface="Tahoma"/>
                <a:ea typeface="Tahoma"/>
                <a:cs typeface="Tahoma"/>
              </a:rPr>
              <a:t>Corpus and chunking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D9652-173E-4D7F-9EC4-39BA745F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AEC19-05EA-4DC2-B658-1674B393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0" b="1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7200" b="1">
                <a:solidFill>
                  <a:srgbClr val="24774F"/>
                </a:solidFill>
                <a:latin typeface="Tahoma"/>
                <a:ea typeface="Tahoma"/>
                <a:cs typeface="Tahoma"/>
              </a:rPr>
              <a:t>312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CCF57-77A9-401D-9B61-60BD7A7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distinct real Wiki pages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90E48-B8B4-4370-A990-99619DE5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About 817,000 words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Exact page revisions retained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D6B94-EF34-4B54-9DF6-98A84A19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520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24774F"/>
                </a:solidFill>
                <a:latin typeface="Tahoma"/>
                <a:ea typeface="Tahoma"/>
                <a:cs typeface="Tahoma"/>
              </a:rPr>
              <a:t>256-token chunks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C26D6-DD60-450F-9B4B-9D6E5460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5200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Keep section and paragraph boundaries.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Split oversized paragraphs.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No overlap.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77A0B-23C2-424C-B0FA-B7B4B31F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5200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Compared 128, 256 and 512 tokens.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Historical reranker page hits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were similar: 74.1% to 74.5%.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3CF94-8D33-4172-B56A-82F6D095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The synthetic Q&amp;A pool chooses page titles and supports older diagnostics. It is not the retrieval corpus.</a:t>
            </a:r>
          </a:p>
        </p:txBody>
      </p:sp>
    </p:spTree>
    <p:extLst>
      <p:ext uri="{BB962C8B-B14F-4D97-AF65-F5344CB8AC3E}">
        <p14:creationId xmlns:p14="http://schemas.microsoft.com/office/powerpoint/2010/main" val="368149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76B70-C85E-4CD6-8DA0-EABCB659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42B2A"/>
                </a:solidFill>
                <a:latin typeface="Tahoma"/>
                <a:ea typeface="Tahoma"/>
                <a:cs typeface="Tahoma"/>
              </a:rPr>
              <a:t>Small models keep the system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47116-AB17-443B-A53A-BE787ECB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A7916-3E91-4642-B4DA-C69FA60DDEA4}"/>
              </a:ext>
            </a:extLst>
          </p:cNvPr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286250"/>
                <a:gridCol w="41148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Role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Choice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Purpose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CPU embeddings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BGE-small-en-v1.5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384-dim semantic vectors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Hybrid search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BM25 + dense, RRF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Match names and meaning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CPU reranking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MS MARCO MiniLM-L6-v2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Joint passage scoring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Local generation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Qwen3 4B Instruct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Citations and tool calls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4722E-B97E-4D3E-B9C1-4E4CEE5D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24774F"/>
                </a:solidFill>
                <a:latin typeface="Tahoma"/>
                <a:ea typeface="Tahoma"/>
                <a:cs typeface="Tahoma"/>
              </a:rPr>
              <a:t>Retrieve 50 per branch. Fuse ranks. Rerank 20. Answer from the top 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50DAA-BC7D-4C6D-926E-C8D98313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Live demo next: recipe quantity, cited gameplay answer, edition boundary.</a:t>
            </a:r>
          </a:p>
        </p:txBody>
      </p:sp>
    </p:spTree>
    <p:extLst>
      <p:ext uri="{BB962C8B-B14F-4D97-AF65-F5344CB8AC3E}">
        <p14:creationId xmlns:p14="http://schemas.microsoft.com/office/powerpoint/2010/main" val="351221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BEE17-0FE8-41DF-AF7D-FC41F490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42B2A"/>
                </a:solidFill>
                <a:latin typeface="Tahoma"/>
                <a:ea typeface="Tahoma"/>
                <a:cs typeface="Tahoma"/>
              </a:rPr>
              <a:t>Retrieved evidence improves factual answers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E4940-5211-4234-8AB6-0E499717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54367-D9AE-4D1E-909A-0934E858935A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124200"/>
                <a:gridCol w="3276600"/>
              </a:tblGrid>
              <a:tr h="6667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Variant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Judged correct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Quote in top 5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No retrieval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9/34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Not applicable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Dense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27/34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31/34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Hybrid + reranker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26/34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30/34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967BF-92CC-4C67-BCE3-FB75E9B5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24774F"/>
                </a:solidFill>
                <a:latin typeface="Tahoma"/>
                <a:ea typeface="Tahoma"/>
                <a:cs typeface="Tahoma"/>
              </a:rPr>
              <a:t>Evidence gives the model facts it could otherwise guess.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F7051-7C69-4C55-B738-047E3309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Reranking did not establish a gain over dense retrieval.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19D26-FAC0-488D-A21C-2A1CC83D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Frozen v1 test: 34 facts + 6 negatives. Automatic same-model judge. Historical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9054686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99B8D-CE5C-4ACE-BEF5-A654E147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42B2A"/>
                </a:solidFill>
                <a:latin typeface="Tahoma"/>
                <a:ea typeface="Tahoma"/>
                <a:cs typeface="Tahoma"/>
              </a:rPr>
              <a:t>The recipe tool improves quantity answers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5DD18-30DE-4BBB-BDCC-4590C73E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CE901-E860-4018-B396-1B789361D48E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124200"/>
                <a:gridCol w="3276600"/>
              </a:tblGrid>
              <a:tr h="7239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Same 40 questions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Exact quantity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Correct (%)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Without recipe tool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1/40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2.5%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With recipe tool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37/40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92.5%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E0609-BDB2-426D-9BBB-681B4114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24774F"/>
                </a:solidFill>
                <a:latin typeface="Tahoma"/>
                <a:ea typeface="Tahoma"/>
                <a:cs typeface="Tahoma"/>
              </a:rPr>
              <a:t>Official recipe slots determine ingredient consumption.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A45EC-DD7F-45DC-A190-013E9029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All 3 misses made no tool call, so routing is the weak 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B14E6-512E-4216-91EE-EB2280F0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Frozen v2 test. Direct ingredients only, without inventory reuse or recursive material planning.</a:t>
            </a:r>
          </a:p>
        </p:txBody>
      </p:sp>
    </p:spTree>
    <p:extLst>
      <p:ext uri="{BB962C8B-B14F-4D97-AF65-F5344CB8AC3E}">
        <p14:creationId xmlns:p14="http://schemas.microsoft.com/office/powerpoint/2010/main" val="1805064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C6403-4F88-44FC-BFEC-0DB289EC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42B2A"/>
                </a:solidFill>
                <a:latin typeface="Tahoma"/>
                <a:ea typeface="Tahoma"/>
                <a:cs typeface="Tahoma"/>
              </a:rPr>
              <a:t>Current quality needs two kinds of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DCD59-FC29-4838-8B47-A73798D3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EB39E-DD39-45ED-BAA2-45849243182D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3124200"/>
                <a:gridCol w="3276600"/>
              </a:tblGrid>
              <a:tr h="72390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Current variant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LLM judge correct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BERTScore F1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Dense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6/8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0.654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Hybrid + reranker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7/8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0.600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74EE3-0704-4193-BE89-02B551C7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24774F"/>
                </a:solidFill>
                <a:latin typeface="Tahoma"/>
                <a:ea typeface="Tahoma"/>
                <a:cs typeface="Tahoma"/>
              </a:rPr>
              <a:t>Correctness checks facts. BERTScore checks similarity.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8551E-AA4A-4F75-AC38-27BB3F3F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Both compare with pinned references. Neither is human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48D7B-7468-4129-97A8-D4400DAA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Latest separate study: 8 test facts. Small sample, same-model judge. No general accuracy gain established.</a:t>
            </a:r>
          </a:p>
        </p:txBody>
      </p:sp>
    </p:spTree>
    <p:extLst>
      <p:ext uri="{BB962C8B-B14F-4D97-AF65-F5344CB8AC3E}">
        <p14:creationId xmlns:p14="http://schemas.microsoft.com/office/powerpoint/2010/main" val="702498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42315-23BC-421E-86D6-02BBA903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42B2A"/>
                </a:solidFill>
                <a:latin typeface="Tahoma"/>
                <a:ea typeface="Tahoma"/>
                <a:cs typeface="Tahoma"/>
              </a:rPr>
              <a:t>Correct numbers can still hide wrong claims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B95E4-682F-4833-A273-D119CE7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B226A-8567-48A0-8986-827EA4B9AF6D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19700"/>
                <a:gridCol w="5753100"/>
              </a:tblGrid>
              <a:tr h="807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Observed failure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Why it happens</a:t>
                      </a:r>
                    </a:p>
                  </a:txBody>
                  <a:tcPr marL="171450" marR="171450" marT="133350" marB="133350" anchor="ctr">
                    <a:solidFill>
                      <a:srgbClr val="142B2A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Useful Java evidence removed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Historical and edition rules share paragraphs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Right ingredient, wrong explanation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The model adds claims beyond the tool result</a:t>
                      </a:r>
                    </a:p>
                  </a:txBody>
                  <a:tcPr marL="171450" marR="171450" marT="133350" marB="133350" anchor="ctr">
                    <a:solidFill>
                      <a:srgbClr val="EFF5F1"/>
                    </a:solidFill>
                  </a:tcPr>
                </a:tc>
              </a:tr>
              <a:tr h="807244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Judge verdict can be wrong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42B2A"/>
                          </a:solidFill>
                          <a:latin typeface="Tahoma"/>
                          <a:ea typeface="Tahoma"/>
                          <a:cs typeface="Tahoma"/>
                        </a:rPr>
                        <a:t>Generator and judge use the same local model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45300-BED3-4A98-BA2C-D50880B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24774F"/>
                </a:solidFill>
                <a:latin typeface="Tahoma"/>
                <a:ea typeface="Tahoma"/>
                <a:cs typeface="Tahoma"/>
              </a:rPr>
              <a:t>Keep raw answers, citations and tool traces for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912CD-4184-4AE8-854D-D24AA242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Next: improve mixed-section handling and independently review labels on a fresh test set.</a:t>
            </a:r>
          </a:p>
        </p:txBody>
      </p:sp>
    </p:spTree>
    <p:extLst>
      <p:ext uri="{BB962C8B-B14F-4D97-AF65-F5344CB8AC3E}">
        <p14:creationId xmlns:p14="http://schemas.microsoft.com/office/powerpoint/2010/main" val="1865747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49FE3-850B-4FF2-A742-C90BE7C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42B2A"/>
                </a:solidFill>
                <a:latin typeface="Tahoma"/>
                <a:ea typeface="Tahoma"/>
                <a:cs typeface="Tahoma"/>
              </a:rPr>
              <a:t>AI audit: three decisions and one caught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C83E2-0AC9-4171-A866-F493E0D6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960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7C948-BB94-44AA-90E5-3E896F6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24774F"/>
                </a:solidFill>
                <a:latin typeface="Tahoma"/>
                <a:ea typeface="Tahoma"/>
                <a:cs typeface="Tahoma"/>
              </a:rPr>
              <a:t>Three AI-owned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46553-7A8A-417B-BFE9-3A320EDA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256-token section chunks: balance context and cost.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39958-689E-4124-BAD4-5A9ECEA9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CPU BGE embeddings: compact English retrieval.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ED348-36FD-42EA-9FB0-83DFED43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Official recipe calculation: exact quantities, with a tool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0A79B-389E-4257-A1B1-8FA6126F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4774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24774F"/>
                </a:solidFill>
                <a:latin typeface="Tahoma"/>
                <a:ea typeface="Tahoma"/>
                <a:cs typeface="Tahoma"/>
              </a:rPr>
              <a:t>One actual error catch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9538D-749E-4D9B-ACB5-A4A0E20A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The old scorer credited a refusal that repeated a number.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42B2A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42B2A"/>
                </a:solidFill>
                <a:latin typeface="Tahoma"/>
                <a:ea typeface="Tahoma"/>
                <a:cs typeface="Tahoma"/>
              </a:rPr>
              <a:t>Fix: check the requested ingredient and reject refusals.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1FE97-3F23-4DE4-8197-FFFA85DD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3656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36563"/>
                </a:solidFill>
                <a:latin typeface="Tahoma"/>
                <a:ea typeface="Tahoma"/>
                <a:cs typeface="Tahoma"/>
              </a:rPr>
              <a:t>Claude Code and Codex built and checked the system.</a:t>
            </a:r>
          </a:p>
        </p:txBody>
      </p:sp>
    </p:spTree>
    <p:extLst>
      <p:ext uri="{BB962C8B-B14F-4D97-AF65-F5344CB8AC3E}">
        <p14:creationId xmlns:p14="http://schemas.microsoft.com/office/powerpoint/2010/main" val="448338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2026-10-08T08:08:10.2940000Z</dcterms:created>
  <dcterms:modified xsi:type="dcterms:W3CDTF">2026-10-08T08:08:10.2940000Z</dcterms:modified>
</coreProperties>
</file>